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8FA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F172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502920" y="640080"/>
            <a:ext cx="11155680" cy="5120640"/>
          </a:xfrm>
          <a:prstGeom prst="rect">
            <a:avLst/>
          </a:prstGeom>
          <a:solidFill>
            <a:srgbClr val="FFFFFF"/>
          </a:solidFill>
          <a:ln>
            <a:solidFill>
              <a:srgbClr val="DBEAF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914400" y="1234440"/>
            <a:ext cx="9875520" cy="16459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2800" b="1">
                <a:solidFill>
                  <a:srgbClr val="0F172A"/>
                </a:solidFill>
                <a:latin typeface="Microsoft YaHei"/>
              </a:rPr>
              <a:t>VANET 弱硬件场景下的实时撤销与恶意车辆事后追责调研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14400" y="2788920"/>
            <a:ext cx="10058400" cy="11887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800">
                <a:solidFill>
                  <a:srgbClr val="475569"/>
                </a:solidFill>
                <a:latin typeface="Microsoft YaHei"/>
              </a:rPr>
              <a:t>把 EATI 的“可信身份 + 可验证执行 + 监管追溯”思路移植到车联网（VANET/C-ITS）</a:t>
            </a:r>
          </a:p>
          <a:p>
            <a:r>
              <a:rPr sz="1600">
                <a:solidFill>
                  <a:srgbClr val="64748B"/>
                </a:solidFill>
                <a:latin typeface="Microsoft YaHei"/>
              </a:rPr>
              <a:t>适用对象：导师汇报 / 开题讨论 / 方案评审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914400" y="4983480"/>
            <a:ext cx="4389120" cy="502920"/>
          </a:xfrm>
          <a:prstGeom prst="roundRect">
            <a:avLst/>
          </a:prstGeom>
          <a:solidFill>
            <a:srgbClr val="DBEA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078992" y="5102352"/>
            <a:ext cx="4023360" cy="1828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200">
                <a:solidFill>
                  <a:srgbClr val="2563EB"/>
                </a:solidFill>
                <a:latin typeface="Microsoft YaHei"/>
              </a:rPr>
              <a:t>关键词：VANET / C-ITS / 撤销 / 追责 / 伪名证书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8FA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640080"/>
          </a:xfrm>
          <a:prstGeom prst="rect">
            <a:avLst/>
          </a:prstGeom>
          <a:solidFill>
            <a:srgbClr val="0F172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109728"/>
            <a:ext cx="109728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2400" b="1">
                <a:solidFill>
                  <a:srgbClr val="FFFFFF"/>
                </a:solidFill>
                <a:latin typeface="Microsoft YaHei"/>
              </a:rPr>
              <a:t>1. 一页结论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85800" y="1234440"/>
            <a:ext cx="10972800" cy="484632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>
              <a:spcBef>
                <a:spcPts val="100"/>
              </a:spcBef>
              <a:spcAft>
                <a:spcPts val="400"/>
              </a:spcAft>
            </a:pPr>
            <a:r>
              <a:rPr sz="2000">
                <a:solidFill>
                  <a:srgbClr val="0F172A"/>
                </a:solidFill>
                <a:latin typeface="Microsoft YaHei"/>
              </a:rPr>
              <a:t>可以移植，但不能直接照搬。 VANET 更适合“车端轻量密码学 + 路侧/后台承担重计算”的架构，而不是把 TEE、MPC、复杂匿名签名全部压到车端。</a:t>
            </a:r>
          </a:p>
          <a:p>
            <a:pPr>
              <a:spcBef>
                <a:spcPts val="100"/>
              </a:spcBef>
              <a:spcAft>
                <a:spcPts val="400"/>
              </a:spcAft>
            </a:pPr>
            <a:r>
              <a:rPr sz="2000">
                <a:solidFill>
                  <a:srgbClr val="0F172A"/>
                </a:solidFill>
                <a:latin typeface="Microsoft YaHei"/>
              </a:rPr>
              <a:t>面向“弱硬件 + 安全消息高频广播”场景，主线应采用：短期伪名证书 + ECC 签名 + 分层撤销 + 条件开链追责。</a:t>
            </a:r>
          </a:p>
          <a:p>
            <a:pPr>
              <a:spcBef>
                <a:spcPts val="100"/>
              </a:spcBef>
              <a:spcAft>
                <a:spcPts val="400"/>
              </a:spcAft>
            </a:pPr>
            <a:r>
              <a:rPr sz="2000">
                <a:solidFill>
                  <a:srgbClr val="0F172A"/>
                </a:solidFill>
                <a:latin typeface="Microsoft YaHei"/>
              </a:rPr>
              <a:t>“实时撤销”在 VANET 里通常不是指 每条消息都在线查黑名单，而是指：通过短生命周期证书、增量 CRL、RSU 热更新、本地热名单，把撤销传播时间压到可接受范围。</a:t>
            </a:r>
          </a:p>
          <a:p>
            <a:pPr>
              <a:spcBef>
                <a:spcPts val="100"/>
              </a:spcBef>
              <a:spcAft>
                <a:spcPts val="400"/>
              </a:spcAft>
            </a:pPr>
            <a:r>
              <a:rPr sz="2000">
                <a:solidFill>
                  <a:srgbClr val="0F172A"/>
                </a:solidFill>
                <a:latin typeface="Microsoft YaHei"/>
              </a:rPr>
              <a:t>“事后追责”不应破坏日常隐私，推荐使用 SCMS / CCMS 类架构 中的 Linkage Authority / Misbehavior Authority 进行条件开链。[R1][R5]</a:t>
            </a:r>
          </a:p>
          <a:p>
            <a:pPr>
              <a:spcBef>
                <a:spcPts val="100"/>
              </a:spcBef>
              <a:spcAft>
                <a:spcPts val="400"/>
              </a:spcAft>
            </a:pPr>
            <a:r>
              <a:rPr sz="2000">
                <a:solidFill>
                  <a:srgbClr val="0F172A"/>
                </a:solidFill>
                <a:latin typeface="Microsoft YaHei"/>
              </a:rPr>
              <a:t>从现有资料看：标准成熟、工程链路可行、开源实现已有雏形，但“完整的端到端追责闭环”仍处于持续工程化阶段。[R2][R3][R4][R5][R6]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94360" y="6236208"/>
            <a:ext cx="10972800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900">
                <a:solidFill>
                  <a:srgbClr val="64748B"/>
                </a:solidFill>
                <a:latin typeface="Microsoft YaHei"/>
              </a:rPr>
              <a:t>参考：[R1][R2][R3][R4][R5][R6]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8FA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640080"/>
          </a:xfrm>
          <a:prstGeom prst="rect">
            <a:avLst/>
          </a:prstGeom>
          <a:solidFill>
            <a:srgbClr val="0F172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109728"/>
            <a:ext cx="109728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2400" b="1">
                <a:solidFill>
                  <a:srgbClr val="FFFFFF"/>
                </a:solidFill>
                <a:latin typeface="Microsoft YaHei"/>
              </a:rPr>
              <a:t>2. 为什么 EATI 思路能迁移到 VANET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85800" y="1234440"/>
            <a:ext cx="10972800" cy="484632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>
              <a:spcBef>
                <a:spcPts val="100"/>
              </a:spcBef>
              <a:spcAft>
                <a:spcPts val="400"/>
              </a:spcAft>
            </a:pPr>
            <a:r>
              <a:rPr sz="2000">
                <a:solidFill>
                  <a:srgbClr val="0F172A"/>
                </a:solidFill>
                <a:latin typeface="Microsoft YaHei"/>
              </a:rPr>
              <a:t>EATI 的四个关键词：身份可信、执行可信、证据可信、事后可追溯。</a:t>
            </a:r>
          </a:p>
          <a:p>
            <a:pPr>
              <a:spcBef>
                <a:spcPts val="100"/>
              </a:spcBef>
              <a:spcAft>
                <a:spcPts val="400"/>
              </a:spcAft>
            </a:pPr>
            <a:r>
              <a:rPr sz="2000">
                <a:solidFill>
                  <a:srgbClr val="0F172A"/>
                </a:solidFill>
                <a:latin typeface="Microsoft YaHei"/>
              </a:rPr>
              <a:t>VANET 的对应需求几乎一一映射：</a:t>
            </a:r>
          </a:p>
          <a:p>
            <a:pPr lvl="1">
              <a:spcBef>
                <a:spcPts val="100"/>
              </a:spcBef>
              <a:spcAft>
                <a:spcPts val="400"/>
              </a:spcAft>
            </a:pPr>
            <a:r>
              <a:rPr sz="1800">
                <a:solidFill>
                  <a:srgbClr val="475569"/>
                </a:solidFill>
                <a:latin typeface="Microsoft YaHei"/>
              </a:rPr>
              <a:t>身份可信：车辆/RSU/平台必须持有可信凭证，且不能被伪造。</a:t>
            </a:r>
          </a:p>
          <a:p>
            <a:pPr lvl="1">
              <a:spcBef>
                <a:spcPts val="100"/>
              </a:spcBef>
              <a:spcAft>
                <a:spcPts val="400"/>
              </a:spcAft>
            </a:pPr>
            <a:r>
              <a:rPr sz="1800">
                <a:solidFill>
                  <a:srgbClr val="475569"/>
                </a:solidFill>
                <a:latin typeface="Microsoft YaHei"/>
              </a:rPr>
              <a:t>执行可信：消息必须能证明“是谁在什么权限下发出的”。</a:t>
            </a:r>
          </a:p>
          <a:p>
            <a:pPr lvl="1">
              <a:spcBef>
                <a:spcPts val="100"/>
              </a:spcBef>
              <a:spcAft>
                <a:spcPts val="400"/>
              </a:spcAft>
            </a:pPr>
            <a:r>
              <a:rPr sz="1800">
                <a:solidFill>
                  <a:srgbClr val="475569"/>
                </a:solidFill>
                <a:latin typeface="Microsoft YaHei"/>
              </a:rPr>
              <a:t>证据可信：恶意广播、假事件、重放攻击需要保留可验证证据。</a:t>
            </a:r>
          </a:p>
          <a:p>
            <a:pPr lvl="1">
              <a:spcBef>
                <a:spcPts val="100"/>
              </a:spcBef>
              <a:spcAft>
                <a:spcPts val="400"/>
              </a:spcAft>
            </a:pPr>
            <a:r>
              <a:rPr sz="1800">
                <a:solidFill>
                  <a:srgbClr val="475569"/>
                </a:solidFill>
                <a:latin typeface="Microsoft YaHei"/>
              </a:rPr>
              <a:t>监管追溯：既要保护车辆日常匿名性，又要在事故/攻击后依法追责。</a:t>
            </a:r>
          </a:p>
          <a:p>
            <a:pPr>
              <a:spcBef>
                <a:spcPts val="100"/>
              </a:spcBef>
              <a:spcAft>
                <a:spcPts val="400"/>
              </a:spcAft>
            </a:pPr>
            <a:r>
              <a:rPr sz="2000">
                <a:solidFill>
                  <a:srgbClr val="0F172A"/>
                </a:solidFill>
                <a:latin typeface="Microsoft YaHei"/>
              </a:rPr>
              <a:t>因此，迁移不是“概念硬套”，而是把 EATI 的治理目标落到 V2X PKI / SCMS / CCMS 这套行业语言里。[R1][R3][R6]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94360" y="6236208"/>
            <a:ext cx="10972800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900">
                <a:solidFill>
                  <a:srgbClr val="64748B"/>
                </a:solidFill>
                <a:latin typeface="Microsoft YaHei"/>
              </a:rPr>
              <a:t>参考：[R1][R3][R6]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8FA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640080"/>
          </a:xfrm>
          <a:prstGeom prst="rect">
            <a:avLst/>
          </a:prstGeom>
          <a:solidFill>
            <a:srgbClr val="0F172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109728"/>
            <a:ext cx="109728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2400" b="1">
                <a:solidFill>
                  <a:srgbClr val="FFFFFF"/>
                </a:solidFill>
                <a:latin typeface="Microsoft YaHei"/>
              </a:rPr>
              <a:t>3. 现有真实资料显示：主流路线已经比较清晰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85800" y="1234440"/>
            <a:ext cx="10972800" cy="484632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>
              <a:spcBef>
                <a:spcPts val="100"/>
              </a:spcBef>
              <a:spcAft>
                <a:spcPts val="400"/>
              </a:spcAft>
            </a:pPr>
            <a:r>
              <a:rPr sz="2000">
                <a:solidFill>
                  <a:srgbClr val="0F172A"/>
                </a:solidFill>
                <a:latin typeface="Microsoft YaHei"/>
              </a:rPr>
              <a:t>IEEE 1609.2-2022：V2X / ITS 安全消息头与证书格式的核心标准。[R2]</a:t>
            </a:r>
          </a:p>
          <a:p>
            <a:pPr>
              <a:spcBef>
                <a:spcPts val="100"/>
              </a:spcBef>
              <a:spcAft>
                <a:spcPts val="400"/>
              </a:spcAft>
            </a:pPr>
            <a:r>
              <a:rPr sz="2000">
                <a:solidFill>
                  <a:srgbClr val="0F172A"/>
                </a:solidFill>
                <a:latin typeface="Microsoft YaHei"/>
              </a:rPr>
              <a:t>ETSI TS 103 097 / TS 102 941：欧洲 C-ITS 的安全头、证书与信任/隐私管理主干标准。[R2][R3][R4]</a:t>
            </a:r>
          </a:p>
          <a:p>
            <a:pPr>
              <a:spcBef>
                <a:spcPts val="100"/>
              </a:spcBef>
              <a:spcAft>
                <a:spcPts val="400"/>
              </a:spcAft>
            </a:pPr>
            <a:r>
              <a:rPr sz="2000">
                <a:solidFill>
                  <a:srgbClr val="0F172A"/>
                </a:solidFill>
                <a:latin typeface="Microsoft YaHei"/>
              </a:rPr>
              <a:t>ETSI TS 103 759：误行为（misbehaviour）报告协议，说明“发现恶意节点并触发处置”已经进入标准化轨道，但实现仍在持续推进。[R2]</a:t>
            </a:r>
          </a:p>
          <a:p>
            <a:pPr>
              <a:spcBef>
                <a:spcPts val="100"/>
              </a:spcBef>
              <a:spcAft>
                <a:spcPts val="400"/>
              </a:spcAft>
            </a:pPr>
            <a:r>
              <a:rPr sz="2000">
                <a:solidFill>
                  <a:srgbClr val="0F172A"/>
                </a:solidFill>
                <a:latin typeface="Microsoft YaHei"/>
              </a:rPr>
              <a:t>ISO-TC204 Primer on ITS Cryptography：对 SCMS / CCMS、伪名证书、Butterfly Key Expansion、Linkage Values、CRL/CTL 做了系统梳理。[R1]</a:t>
            </a:r>
          </a:p>
          <a:p>
            <a:pPr>
              <a:spcBef>
                <a:spcPts val="100"/>
              </a:spcBef>
              <a:spcAft>
                <a:spcPts val="400"/>
              </a:spcAft>
            </a:pPr>
            <a:r>
              <a:rPr sz="2000">
                <a:solidFill>
                  <a:srgbClr val="0F172A"/>
                </a:solidFill>
                <a:latin typeface="Microsoft YaHei"/>
              </a:rPr>
              <a:t>OpenSCMS 文档：已明确给出 Linkage Authority 的职责——在不破坏日常匿名性的前提下支持误行为解析与撤销；但文档同时指出该组件“已实现、尚未完整接入证书发放流程”，说明追责闭环仍在工程深化中。[R5]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94360" y="6236208"/>
            <a:ext cx="10972800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900">
                <a:solidFill>
                  <a:srgbClr val="64748B"/>
                </a:solidFill>
                <a:latin typeface="Microsoft YaHei"/>
              </a:rPr>
              <a:t>参考：[R1][R2][R3][R4][R5]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8FA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640080"/>
          </a:xfrm>
          <a:prstGeom prst="rect">
            <a:avLst/>
          </a:prstGeom>
          <a:solidFill>
            <a:srgbClr val="0F172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109728"/>
            <a:ext cx="109728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2400" b="1">
                <a:solidFill>
                  <a:srgbClr val="FFFFFF"/>
                </a:solidFill>
                <a:latin typeface="Microsoft YaHei"/>
              </a:rPr>
              <a:t>4. 研究进展判断：成熟的是“可信通信”，较难的是“低成本实时撤销 + 可追责闭环”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594360" y="1325880"/>
            <a:ext cx="2331720" cy="576072"/>
          </a:xfrm>
          <a:prstGeom prst="roundRect">
            <a:avLst/>
          </a:prstGeom>
          <a:solidFill>
            <a:srgbClr val="2563EB"/>
          </a:solidFill>
          <a:ln>
            <a:solidFill>
              <a:srgbClr val="2563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667512" y="1399032"/>
            <a:ext cx="2212848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500" b="1">
                <a:solidFill>
                  <a:srgbClr val="FFFFFF"/>
                </a:solidFill>
                <a:latin typeface="Microsoft YaHei"/>
              </a:rPr>
              <a:t>方向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2971800" y="1325880"/>
            <a:ext cx="1600200" cy="576072"/>
          </a:xfrm>
          <a:prstGeom prst="roundRect">
            <a:avLst/>
          </a:prstGeom>
          <a:solidFill>
            <a:srgbClr val="2563EB"/>
          </a:solidFill>
          <a:ln>
            <a:solidFill>
              <a:srgbClr val="2563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3044952" y="1399032"/>
            <a:ext cx="1481328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500" b="1">
                <a:solidFill>
                  <a:srgbClr val="FFFFFF"/>
                </a:solidFill>
                <a:latin typeface="Microsoft YaHei"/>
              </a:rPr>
              <a:t>现状判断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617720" y="1325880"/>
            <a:ext cx="6812280" cy="576072"/>
          </a:xfrm>
          <a:prstGeom prst="roundRect">
            <a:avLst/>
          </a:prstGeom>
          <a:solidFill>
            <a:srgbClr val="2563EB"/>
          </a:solidFill>
          <a:ln>
            <a:solidFill>
              <a:srgbClr val="2563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4690872" y="1399032"/>
            <a:ext cx="6693408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500" b="1">
                <a:solidFill>
                  <a:srgbClr val="FFFFFF"/>
                </a:solidFill>
                <a:latin typeface="Microsoft YaHei"/>
              </a:rPr>
              <a:t>说明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594360" y="2039112"/>
            <a:ext cx="2331720" cy="576072"/>
          </a:xfrm>
          <a:prstGeom prst="roundRect">
            <a:avLst/>
          </a:prstGeom>
          <a:solidFill>
            <a:srgbClr val="FFFFFF"/>
          </a:solidFill>
          <a:ln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67512" y="2084832"/>
            <a:ext cx="2212848" cy="4114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300">
                <a:solidFill>
                  <a:srgbClr val="0F172A"/>
                </a:solidFill>
                <a:latin typeface="Microsoft YaHei"/>
              </a:rPr>
              <a:t>安全消息签名/验签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2971800" y="2039112"/>
            <a:ext cx="1600200" cy="576072"/>
          </a:xfrm>
          <a:prstGeom prst="roundRect">
            <a:avLst/>
          </a:prstGeom>
          <a:solidFill>
            <a:srgbClr val="FFFFFF"/>
          </a:solidFill>
          <a:ln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3044952" y="2084832"/>
            <a:ext cx="1481328" cy="4114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300">
                <a:solidFill>
                  <a:srgbClr val="0F172A"/>
                </a:solidFill>
                <a:latin typeface="Microsoft YaHei"/>
              </a:rPr>
              <a:t>成熟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4617720" y="2039112"/>
            <a:ext cx="6812280" cy="576072"/>
          </a:xfrm>
          <a:prstGeom prst="roundRect">
            <a:avLst/>
          </a:prstGeom>
          <a:solidFill>
            <a:srgbClr val="FFFFFF"/>
          </a:solidFill>
          <a:ln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4690872" y="2084832"/>
            <a:ext cx="6693408" cy="4114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100">
                <a:solidFill>
                  <a:srgbClr val="475569"/>
                </a:solidFill>
                <a:latin typeface="Microsoft YaHei"/>
              </a:rPr>
              <a:t>IEEE/ETSI 标准和参考实现都比较清楚。[R2][R4]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594360" y="2660904"/>
            <a:ext cx="2331720" cy="576072"/>
          </a:xfrm>
          <a:prstGeom prst="roundRect">
            <a:avLst/>
          </a:prstGeom>
          <a:solidFill>
            <a:srgbClr val="DBEAFE"/>
          </a:solidFill>
          <a:ln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667512" y="2706624"/>
            <a:ext cx="2212848" cy="4114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300">
                <a:solidFill>
                  <a:srgbClr val="0F172A"/>
                </a:solidFill>
                <a:latin typeface="Microsoft YaHei"/>
              </a:rPr>
              <a:t>V2X PKI / 伪名证书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2971800" y="2660904"/>
            <a:ext cx="1600200" cy="576072"/>
          </a:xfrm>
          <a:prstGeom prst="roundRect">
            <a:avLst/>
          </a:prstGeom>
          <a:solidFill>
            <a:srgbClr val="DBEAFE"/>
          </a:solidFill>
          <a:ln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3044952" y="2706624"/>
            <a:ext cx="1481328" cy="4114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300">
                <a:solidFill>
                  <a:srgbClr val="0F172A"/>
                </a:solidFill>
                <a:latin typeface="Microsoft YaHei"/>
              </a:rPr>
              <a:t>成熟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4617720" y="2660904"/>
            <a:ext cx="6812280" cy="576072"/>
          </a:xfrm>
          <a:prstGeom prst="roundRect">
            <a:avLst/>
          </a:prstGeom>
          <a:solidFill>
            <a:srgbClr val="DBEAFE"/>
          </a:solidFill>
          <a:ln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4690872" y="2706624"/>
            <a:ext cx="6693408" cy="4114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100">
                <a:solidFill>
                  <a:srgbClr val="475569"/>
                </a:solidFill>
                <a:latin typeface="Microsoft YaHei"/>
              </a:rPr>
              <a:t>EA/AA/RA/TLM/Root CA 架构已明确，且有开源 PKI 原型。[R1][R3]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594360" y="3282696"/>
            <a:ext cx="2331720" cy="576072"/>
          </a:xfrm>
          <a:prstGeom prst="roundRect">
            <a:avLst/>
          </a:prstGeom>
          <a:solidFill>
            <a:srgbClr val="FFFFFF"/>
          </a:solidFill>
          <a:ln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667512" y="3328416"/>
            <a:ext cx="2212848" cy="4114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300">
                <a:solidFill>
                  <a:srgbClr val="0F172A"/>
                </a:solidFill>
                <a:latin typeface="Microsoft YaHei"/>
              </a:rPr>
              <a:t>短期证书批量生成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2971800" y="3282696"/>
            <a:ext cx="1600200" cy="576072"/>
          </a:xfrm>
          <a:prstGeom prst="roundRect">
            <a:avLst/>
          </a:prstGeom>
          <a:solidFill>
            <a:srgbClr val="FFFFFF"/>
          </a:solidFill>
          <a:ln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3044952" y="3328416"/>
            <a:ext cx="1481328" cy="4114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300">
                <a:solidFill>
                  <a:srgbClr val="0F172A"/>
                </a:solidFill>
                <a:latin typeface="Microsoft YaHei"/>
              </a:rPr>
              <a:t>可工程化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4617720" y="3282696"/>
            <a:ext cx="6812280" cy="576072"/>
          </a:xfrm>
          <a:prstGeom prst="roundRect">
            <a:avLst/>
          </a:prstGeom>
          <a:solidFill>
            <a:srgbClr val="FFFFFF"/>
          </a:solidFill>
          <a:ln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4690872" y="3328416"/>
            <a:ext cx="6693408" cy="4114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100">
                <a:solidFill>
                  <a:srgbClr val="475569"/>
                </a:solidFill>
                <a:latin typeface="Microsoft YaHei"/>
              </a:rPr>
              <a:t>Butterfly Key Expansion 已是主流做法。[R1]</a:t>
            </a:r>
          </a:p>
        </p:txBody>
      </p:sp>
      <p:sp>
        <p:nvSpPr>
          <p:cNvPr id="29" name="Rounded Rectangle 28"/>
          <p:cNvSpPr/>
          <p:nvPr/>
        </p:nvSpPr>
        <p:spPr>
          <a:xfrm>
            <a:off x="594360" y="3904488"/>
            <a:ext cx="2331720" cy="576072"/>
          </a:xfrm>
          <a:prstGeom prst="roundRect">
            <a:avLst/>
          </a:prstGeom>
          <a:solidFill>
            <a:srgbClr val="DBEAFE"/>
          </a:solidFill>
          <a:ln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667512" y="3950208"/>
            <a:ext cx="2212848" cy="4114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300">
                <a:solidFill>
                  <a:srgbClr val="0F172A"/>
                </a:solidFill>
                <a:latin typeface="Microsoft YaHei"/>
              </a:rPr>
              <a:t>证书撤销传播</a:t>
            </a:r>
          </a:p>
        </p:txBody>
      </p:sp>
      <p:sp>
        <p:nvSpPr>
          <p:cNvPr id="31" name="Rounded Rectangle 30"/>
          <p:cNvSpPr/>
          <p:nvPr/>
        </p:nvSpPr>
        <p:spPr>
          <a:xfrm>
            <a:off x="2971800" y="3904488"/>
            <a:ext cx="1600200" cy="576072"/>
          </a:xfrm>
          <a:prstGeom prst="roundRect">
            <a:avLst/>
          </a:prstGeom>
          <a:solidFill>
            <a:srgbClr val="DBEAFE"/>
          </a:solidFill>
          <a:ln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3044952" y="3950208"/>
            <a:ext cx="1481328" cy="4114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300">
                <a:solidFill>
                  <a:srgbClr val="0F172A"/>
                </a:solidFill>
                <a:latin typeface="Microsoft YaHei"/>
              </a:rPr>
              <a:t>可做，但成本敏感</a:t>
            </a:r>
          </a:p>
        </p:txBody>
      </p:sp>
      <p:sp>
        <p:nvSpPr>
          <p:cNvPr id="33" name="Rounded Rectangle 32"/>
          <p:cNvSpPr/>
          <p:nvPr/>
        </p:nvSpPr>
        <p:spPr>
          <a:xfrm>
            <a:off x="4617720" y="3904488"/>
            <a:ext cx="6812280" cy="576072"/>
          </a:xfrm>
          <a:prstGeom prst="roundRect">
            <a:avLst/>
          </a:prstGeom>
          <a:solidFill>
            <a:srgbClr val="DBEAFE"/>
          </a:solidFill>
          <a:ln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4690872" y="3950208"/>
            <a:ext cx="6693408" cy="4114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100">
                <a:solidFill>
                  <a:srgbClr val="475569"/>
                </a:solidFill>
                <a:latin typeface="Microsoft YaHei"/>
              </a:rPr>
              <a:t>CRL/CTL 已标准化，但在大规模车流/弱网络下分发效率仍是关键瓶颈。[R1][R2][R3]</a:t>
            </a:r>
          </a:p>
        </p:txBody>
      </p:sp>
      <p:sp>
        <p:nvSpPr>
          <p:cNvPr id="35" name="Rounded Rectangle 34"/>
          <p:cNvSpPr/>
          <p:nvPr/>
        </p:nvSpPr>
        <p:spPr>
          <a:xfrm>
            <a:off x="594360" y="4526280"/>
            <a:ext cx="2331720" cy="576072"/>
          </a:xfrm>
          <a:prstGeom prst="roundRect">
            <a:avLst/>
          </a:prstGeom>
          <a:solidFill>
            <a:srgbClr val="FFFFFF"/>
          </a:solidFill>
          <a:ln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TextBox 35"/>
          <p:cNvSpPr txBox="1"/>
          <p:nvPr/>
        </p:nvSpPr>
        <p:spPr>
          <a:xfrm>
            <a:off x="667512" y="4572000"/>
            <a:ext cx="2212848" cy="4114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300">
                <a:solidFill>
                  <a:srgbClr val="0F172A"/>
                </a:solidFill>
                <a:latin typeface="Microsoft YaHei"/>
              </a:rPr>
              <a:t>恶意行为报告与联动处置</a:t>
            </a:r>
          </a:p>
        </p:txBody>
      </p:sp>
      <p:sp>
        <p:nvSpPr>
          <p:cNvPr id="37" name="Rounded Rectangle 36"/>
          <p:cNvSpPr/>
          <p:nvPr/>
        </p:nvSpPr>
        <p:spPr>
          <a:xfrm>
            <a:off x="2971800" y="4526280"/>
            <a:ext cx="1600200" cy="576072"/>
          </a:xfrm>
          <a:prstGeom prst="roundRect">
            <a:avLst/>
          </a:prstGeom>
          <a:solidFill>
            <a:srgbClr val="FFFFFF"/>
          </a:solidFill>
          <a:ln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TextBox 37"/>
          <p:cNvSpPr txBox="1"/>
          <p:nvPr/>
        </p:nvSpPr>
        <p:spPr>
          <a:xfrm>
            <a:off x="3044952" y="4572000"/>
            <a:ext cx="1481328" cy="4114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300">
                <a:solidFill>
                  <a:srgbClr val="0F172A"/>
                </a:solidFill>
                <a:latin typeface="Microsoft YaHei"/>
              </a:rPr>
              <a:t>持续推进中</a:t>
            </a:r>
          </a:p>
        </p:txBody>
      </p:sp>
      <p:sp>
        <p:nvSpPr>
          <p:cNvPr id="39" name="Rounded Rectangle 38"/>
          <p:cNvSpPr/>
          <p:nvPr/>
        </p:nvSpPr>
        <p:spPr>
          <a:xfrm>
            <a:off x="4617720" y="4526280"/>
            <a:ext cx="6812280" cy="576072"/>
          </a:xfrm>
          <a:prstGeom prst="roundRect">
            <a:avLst/>
          </a:prstGeom>
          <a:solidFill>
            <a:srgbClr val="FFFFFF"/>
          </a:solidFill>
          <a:ln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TextBox 39"/>
          <p:cNvSpPr txBox="1"/>
          <p:nvPr/>
        </p:nvSpPr>
        <p:spPr>
          <a:xfrm>
            <a:off x="4690872" y="4572000"/>
            <a:ext cx="6693408" cy="4114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100">
                <a:solidFill>
                  <a:srgbClr val="475569"/>
                </a:solidFill>
                <a:latin typeface="Microsoft YaHei"/>
              </a:rPr>
              <a:t>ETSI 已有 misbehaviour 协议；实现层面还在完善。[R2]</a:t>
            </a:r>
          </a:p>
        </p:txBody>
      </p:sp>
      <p:sp>
        <p:nvSpPr>
          <p:cNvPr id="41" name="Rounded Rectangle 40"/>
          <p:cNvSpPr/>
          <p:nvPr/>
        </p:nvSpPr>
        <p:spPr>
          <a:xfrm>
            <a:off x="594360" y="5148072"/>
            <a:ext cx="2331720" cy="576072"/>
          </a:xfrm>
          <a:prstGeom prst="roundRect">
            <a:avLst/>
          </a:prstGeom>
          <a:solidFill>
            <a:srgbClr val="DBEAFE"/>
          </a:solidFill>
          <a:ln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" name="TextBox 41"/>
          <p:cNvSpPr txBox="1"/>
          <p:nvPr/>
        </p:nvSpPr>
        <p:spPr>
          <a:xfrm>
            <a:off x="667512" y="5193792"/>
            <a:ext cx="2212848" cy="4114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300">
                <a:solidFill>
                  <a:srgbClr val="0F172A"/>
                </a:solidFill>
                <a:latin typeface="Microsoft YaHei"/>
              </a:rPr>
              <a:t>隐私保护下的条件追责</a:t>
            </a:r>
          </a:p>
        </p:txBody>
      </p:sp>
      <p:sp>
        <p:nvSpPr>
          <p:cNvPr id="43" name="Rounded Rectangle 42"/>
          <p:cNvSpPr/>
          <p:nvPr/>
        </p:nvSpPr>
        <p:spPr>
          <a:xfrm>
            <a:off x="2971800" y="5148072"/>
            <a:ext cx="1600200" cy="576072"/>
          </a:xfrm>
          <a:prstGeom prst="roundRect">
            <a:avLst/>
          </a:prstGeom>
          <a:solidFill>
            <a:srgbClr val="DBEAFE"/>
          </a:solidFill>
          <a:ln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" name="TextBox 43"/>
          <p:cNvSpPr txBox="1"/>
          <p:nvPr/>
        </p:nvSpPr>
        <p:spPr>
          <a:xfrm>
            <a:off x="3044952" y="5193792"/>
            <a:ext cx="1481328" cy="4114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300">
                <a:solidFill>
                  <a:srgbClr val="0F172A"/>
                </a:solidFill>
                <a:latin typeface="Microsoft YaHei"/>
              </a:rPr>
              <a:t>可行，但实现复杂</a:t>
            </a:r>
          </a:p>
        </p:txBody>
      </p:sp>
      <p:sp>
        <p:nvSpPr>
          <p:cNvPr id="45" name="Rounded Rectangle 44"/>
          <p:cNvSpPr/>
          <p:nvPr/>
        </p:nvSpPr>
        <p:spPr>
          <a:xfrm>
            <a:off x="4617720" y="5148072"/>
            <a:ext cx="6812280" cy="576072"/>
          </a:xfrm>
          <a:prstGeom prst="roundRect">
            <a:avLst/>
          </a:prstGeom>
          <a:solidFill>
            <a:srgbClr val="DBEAFE"/>
          </a:solidFill>
          <a:ln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6" name="TextBox 45"/>
          <p:cNvSpPr txBox="1"/>
          <p:nvPr/>
        </p:nvSpPr>
        <p:spPr>
          <a:xfrm>
            <a:off x="4690872" y="5193792"/>
            <a:ext cx="6693408" cy="4114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100">
                <a:solidFill>
                  <a:srgbClr val="475569"/>
                </a:solidFill>
                <a:latin typeface="Microsoft YaHei"/>
              </a:rPr>
              <a:t>需要多机构协同（LA/MA/RA），开源实现尚未完全打通。[R5]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685800" y="5486400"/>
            <a:ext cx="10972800" cy="5029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600" b="1">
                <a:solidFill>
                  <a:srgbClr val="2563EB"/>
                </a:solidFill>
                <a:latin typeface="Microsoft YaHei"/>
              </a:rPr>
              <a:t>结论：论文或课题的创新空间，最适合放在“弱硬件条件下的低时延撤销传播、证据包组织和条件开链机制”。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8FA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640080"/>
          </a:xfrm>
          <a:prstGeom prst="rect">
            <a:avLst/>
          </a:prstGeom>
          <a:solidFill>
            <a:srgbClr val="0F172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109728"/>
            <a:ext cx="109728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2400" b="1">
                <a:solidFill>
                  <a:srgbClr val="FFFFFF"/>
                </a:solidFill>
                <a:latin typeface="Microsoft YaHei"/>
              </a:rPr>
              <a:t>5. 弱硬件场景应该优先选什么密码学算法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85800" y="1234440"/>
            <a:ext cx="10972800" cy="484632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>
              <a:spcBef>
                <a:spcPts val="100"/>
              </a:spcBef>
              <a:spcAft>
                <a:spcPts val="400"/>
              </a:spcAft>
            </a:pPr>
            <a:r>
              <a:rPr sz="1800">
                <a:solidFill>
                  <a:srgbClr val="0F172A"/>
                </a:solidFill>
                <a:latin typeface="Microsoft YaHei"/>
              </a:rPr>
              <a:t>推荐主线（优先级最高）</a:t>
            </a:r>
          </a:p>
          <a:p>
            <a:pPr>
              <a:spcBef>
                <a:spcPts val="100"/>
              </a:spcBef>
              <a:spcAft>
                <a:spcPts val="400"/>
              </a:spcAft>
            </a:pPr>
            <a:r>
              <a:rPr sz="1800">
                <a:solidFill>
                  <a:srgbClr val="0F172A"/>
                </a:solidFill>
                <a:latin typeface="Microsoft YaHei"/>
              </a:rPr>
              <a:t>签名：优先 ECC 系列数字签名（与现有 V2X 标准生态兼容），避免 RSA 在高频广播下带来的较大签名/证书开销。</a:t>
            </a:r>
          </a:p>
          <a:p>
            <a:pPr>
              <a:spcBef>
                <a:spcPts val="100"/>
              </a:spcBef>
              <a:spcAft>
                <a:spcPts val="400"/>
              </a:spcAft>
            </a:pPr>
            <a:r>
              <a:rPr sz="1800">
                <a:solidFill>
                  <a:srgbClr val="0F172A"/>
                </a:solidFill>
                <a:latin typeface="Microsoft YaHei"/>
              </a:rPr>
              <a:t>哈希：SHA-256（国际兼容）或 SM3（国内合规场景）。</a:t>
            </a:r>
          </a:p>
          <a:p>
            <a:pPr>
              <a:spcBef>
                <a:spcPts val="100"/>
              </a:spcBef>
              <a:spcAft>
                <a:spcPts val="400"/>
              </a:spcAft>
            </a:pPr>
            <a:r>
              <a:rPr sz="1800">
                <a:solidFill>
                  <a:srgbClr val="0F172A"/>
                </a:solidFill>
                <a:latin typeface="Microsoft YaHei"/>
              </a:rPr>
              <a:t>对称加密 / 完整性：AES-GCM / AES-CCM；若走国密闭环可考虑 SM4。</a:t>
            </a:r>
          </a:p>
          <a:p>
            <a:pPr>
              <a:spcBef>
                <a:spcPts val="100"/>
              </a:spcBef>
              <a:spcAft>
                <a:spcPts val="400"/>
              </a:spcAft>
            </a:pPr>
            <a:r>
              <a:rPr sz="1800">
                <a:solidFill>
                  <a:srgbClr val="0F172A"/>
                </a:solidFill>
                <a:latin typeface="Microsoft YaHei"/>
              </a:rPr>
              <a:t>证书体系：长期注册证书 + 短期伪名证书，配合 Butterfly Key Expansion 降低车端密钥管理成本。[R1]</a:t>
            </a:r>
          </a:p>
          <a:p>
            <a:pPr>
              <a:spcBef>
                <a:spcPts val="100"/>
              </a:spcBef>
              <a:spcAft>
                <a:spcPts val="400"/>
              </a:spcAft>
            </a:pPr>
            <a:r>
              <a:rPr sz="1800">
                <a:solidFill>
                  <a:srgbClr val="0F172A"/>
                </a:solidFill>
                <a:latin typeface="Microsoft YaHei"/>
              </a:rPr>
              <a:t>中国场景可补充的国密方案</a:t>
            </a:r>
          </a:p>
          <a:p>
            <a:pPr>
              <a:spcBef>
                <a:spcPts val="100"/>
              </a:spcBef>
              <a:spcAft>
                <a:spcPts val="400"/>
              </a:spcAft>
            </a:pPr>
            <a:r>
              <a:rPr sz="1800">
                <a:solidFill>
                  <a:srgbClr val="0F172A"/>
                </a:solidFill>
                <a:latin typeface="Microsoft YaHei"/>
              </a:rPr>
              <a:t>若课题希望兼顾产业合规落地，可设计 “国际兼容曲线方案” 与 “国密 SM2/SM3/SM4 方案” 双栈。</a:t>
            </a:r>
          </a:p>
          <a:p>
            <a:pPr>
              <a:spcBef>
                <a:spcPts val="100"/>
              </a:spcBef>
              <a:spcAft>
                <a:spcPts val="400"/>
              </a:spcAft>
            </a:pPr>
            <a:r>
              <a:rPr sz="1800">
                <a:solidFill>
                  <a:srgbClr val="0F172A"/>
                </a:solidFill>
                <a:latin typeface="Microsoft YaHei"/>
              </a:rPr>
              <a:t>建议不要 在车端直接上：</a:t>
            </a:r>
          </a:p>
          <a:p>
            <a:pPr lvl="1">
              <a:spcBef>
                <a:spcPts val="100"/>
              </a:spcBef>
              <a:spcAft>
                <a:spcPts val="400"/>
              </a:spcAft>
            </a:pPr>
            <a:r>
              <a:rPr sz="1600">
                <a:solidFill>
                  <a:srgbClr val="475569"/>
                </a:solidFill>
                <a:latin typeface="Microsoft YaHei"/>
              </a:rPr>
              <a:t>复杂 群签名 / 双线性对 方案（计算和实现复杂度高）；</a:t>
            </a:r>
          </a:p>
          <a:p>
            <a:pPr lvl="1">
              <a:spcBef>
                <a:spcPts val="100"/>
              </a:spcBef>
              <a:spcAft>
                <a:spcPts val="400"/>
              </a:spcAft>
            </a:pPr>
            <a:r>
              <a:rPr sz="1600">
                <a:solidFill>
                  <a:srgbClr val="475569"/>
                </a:solidFill>
                <a:latin typeface="Microsoft YaHei"/>
              </a:rPr>
              <a:t>“所有证据都上链”的方案（通信与一致性负担过重）；</a:t>
            </a:r>
          </a:p>
          <a:p>
            <a:pPr lvl="1">
              <a:spcBef>
                <a:spcPts val="100"/>
              </a:spcBef>
              <a:spcAft>
                <a:spcPts val="400"/>
              </a:spcAft>
            </a:pPr>
            <a:r>
              <a:rPr sz="1600">
                <a:solidFill>
                  <a:srgbClr val="475569"/>
                </a:solidFill>
                <a:latin typeface="Microsoft YaHei"/>
              </a:rPr>
              <a:t>全量在线校验证书状态（网络条件不允许）。</a:t>
            </a:r>
          </a:p>
          <a:p>
            <a:pPr>
              <a:spcBef>
                <a:spcPts val="100"/>
              </a:spcBef>
              <a:spcAft>
                <a:spcPts val="400"/>
              </a:spcAft>
            </a:pPr>
            <a:r>
              <a:rPr sz="1800">
                <a:solidFill>
                  <a:srgbClr val="0F172A"/>
                </a:solidFill>
                <a:latin typeface="Microsoft YaHei"/>
              </a:rPr>
              <a:t>一句话建议：车端做 ECC + 伪名轮换，路侧做撤销加速，后台做条件开链。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94360" y="6236208"/>
            <a:ext cx="10972800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900">
                <a:solidFill>
                  <a:srgbClr val="64748B"/>
                </a:solidFill>
                <a:latin typeface="Microsoft YaHei"/>
              </a:rPr>
              <a:t>参考：[R1]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8FA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640080"/>
          </a:xfrm>
          <a:prstGeom prst="rect">
            <a:avLst/>
          </a:prstGeom>
          <a:solidFill>
            <a:srgbClr val="0F172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109728"/>
            <a:ext cx="109728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2400" b="1">
                <a:solidFill>
                  <a:srgbClr val="FFFFFF"/>
                </a:solidFill>
                <a:latin typeface="Microsoft YaHei"/>
              </a:rPr>
              <a:t>6. 如何做“实时撤销”：不要追求强在线，改做“准实时 + 分层”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85800" y="1234440"/>
            <a:ext cx="10972800" cy="484632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>
              <a:spcBef>
                <a:spcPts val="100"/>
              </a:spcBef>
              <a:spcAft>
                <a:spcPts val="400"/>
              </a:spcAft>
            </a:pPr>
            <a:r>
              <a:rPr sz="1800">
                <a:solidFill>
                  <a:srgbClr val="0F172A"/>
                </a:solidFill>
                <a:latin typeface="Microsoft YaHei"/>
              </a:rPr>
              <a:t>目标拆解</a:t>
            </a:r>
          </a:p>
          <a:p>
            <a:pPr>
              <a:spcBef>
                <a:spcPts val="100"/>
              </a:spcBef>
              <a:spcAft>
                <a:spcPts val="400"/>
              </a:spcAft>
            </a:pPr>
            <a:r>
              <a:rPr sz="1800">
                <a:solidFill>
                  <a:srgbClr val="0F172A"/>
                </a:solidFill>
                <a:latin typeface="Microsoft YaHei"/>
              </a:rPr>
              <a:t>消息接收时延目标：安全广播消息验签不能被重型撤销查询拖慢。</a:t>
            </a:r>
          </a:p>
          <a:p>
            <a:pPr>
              <a:spcBef>
                <a:spcPts val="100"/>
              </a:spcBef>
              <a:spcAft>
                <a:spcPts val="400"/>
              </a:spcAft>
            </a:pPr>
            <a:r>
              <a:rPr sz="1800">
                <a:solidFill>
                  <a:srgbClr val="0F172A"/>
                </a:solidFill>
                <a:latin typeface="Microsoft YaHei"/>
              </a:rPr>
              <a:t>撤销传播目标：新恶意车辆被确认后，尽快让附近车辆和 RSU 不再接受其后续消息。</a:t>
            </a:r>
          </a:p>
          <a:p>
            <a:pPr>
              <a:spcBef>
                <a:spcPts val="100"/>
              </a:spcBef>
              <a:spcAft>
                <a:spcPts val="400"/>
              </a:spcAft>
            </a:pPr>
            <a:r>
              <a:rPr sz="1800">
                <a:solidFill>
                  <a:srgbClr val="0F172A"/>
                </a:solidFill>
                <a:latin typeface="Microsoft YaHei"/>
              </a:rPr>
              <a:t>推荐机制</a:t>
            </a:r>
          </a:p>
          <a:p>
            <a:pPr>
              <a:spcBef>
                <a:spcPts val="100"/>
              </a:spcBef>
              <a:spcAft>
                <a:spcPts val="400"/>
              </a:spcAft>
            </a:pPr>
            <a:r>
              <a:rPr sz="1800">
                <a:solidFill>
                  <a:srgbClr val="0F172A"/>
                </a:solidFill>
                <a:latin typeface="Microsoft YaHei"/>
              </a:rPr>
              <a:t>短期伪名证书：把可滥用窗口先缩短。</a:t>
            </a:r>
          </a:p>
          <a:p>
            <a:pPr>
              <a:spcBef>
                <a:spcPts val="100"/>
              </a:spcBef>
              <a:spcAft>
                <a:spcPts val="400"/>
              </a:spcAft>
            </a:pPr>
            <a:r>
              <a:rPr sz="1800">
                <a:solidFill>
                  <a:srgbClr val="0F172A"/>
                </a:solidFill>
                <a:latin typeface="Microsoft YaHei"/>
              </a:rPr>
              <a:t>增量 CRL / Delta-CRL：只下发新增撤销项，而不是反复分发全量列表。[R1][R3]</a:t>
            </a:r>
          </a:p>
          <a:p>
            <a:pPr>
              <a:spcBef>
                <a:spcPts val="100"/>
              </a:spcBef>
              <a:spcAft>
                <a:spcPts val="400"/>
              </a:spcAft>
            </a:pPr>
            <a:r>
              <a:rPr sz="1800">
                <a:solidFill>
                  <a:srgbClr val="0F172A"/>
                </a:solidFill>
                <a:latin typeface="Microsoft YaHei"/>
              </a:rPr>
              <a:t>RSU 热更新 + 车辆本地热名单缓存：高风险区域由路侧优先下发，提高“局部实时性”。</a:t>
            </a:r>
          </a:p>
          <a:p>
            <a:pPr>
              <a:spcBef>
                <a:spcPts val="100"/>
              </a:spcBef>
              <a:spcAft>
                <a:spcPts val="400"/>
              </a:spcAft>
            </a:pPr>
            <a:r>
              <a:rPr sz="1800">
                <a:solidFill>
                  <a:srgbClr val="0F172A"/>
                </a:solidFill>
                <a:latin typeface="Microsoft YaHei"/>
              </a:rPr>
              <a:t>Linkage 值撤销：对同一恶意车辆的一批伪名证书做批量失效，而不是逐证书枚举。[R1][R5]</a:t>
            </a:r>
          </a:p>
          <a:p>
            <a:pPr>
              <a:spcBef>
                <a:spcPts val="100"/>
              </a:spcBef>
              <a:spcAft>
                <a:spcPts val="400"/>
              </a:spcAft>
            </a:pPr>
            <a:r>
              <a:rPr sz="1800">
                <a:solidFill>
                  <a:srgbClr val="0F172A"/>
                </a:solidFill>
                <a:latin typeface="Microsoft YaHei"/>
              </a:rPr>
              <a:t>本地快速判定结构：可用 Bloom Filter / Cuckoo Filter 压缩热点撤销集，但应作为工程优化层，而非信任根。</a:t>
            </a:r>
          </a:p>
          <a:p>
            <a:pPr>
              <a:spcBef>
                <a:spcPts val="100"/>
              </a:spcBef>
              <a:spcAft>
                <a:spcPts val="400"/>
              </a:spcAft>
            </a:pPr>
            <a:r>
              <a:rPr sz="1800">
                <a:solidFill>
                  <a:srgbClr val="0F172A"/>
                </a:solidFill>
                <a:latin typeface="Microsoft YaHei"/>
              </a:rPr>
              <a:t>关键认识</a:t>
            </a:r>
          </a:p>
          <a:p>
            <a:pPr>
              <a:spcBef>
                <a:spcPts val="100"/>
              </a:spcBef>
              <a:spcAft>
                <a:spcPts val="400"/>
              </a:spcAft>
            </a:pPr>
            <a:r>
              <a:rPr sz="1800">
                <a:solidFill>
                  <a:srgbClr val="0F172A"/>
                </a:solidFill>
                <a:latin typeface="Microsoft YaHei"/>
              </a:rPr>
              <a:t>VANET 里的“实时撤销”更现实的定义是：秒级到分钟级传播 + 消息处理路径不阻塞。</a:t>
            </a:r>
          </a:p>
          <a:p>
            <a:pPr>
              <a:spcBef>
                <a:spcPts val="100"/>
              </a:spcBef>
              <a:spcAft>
                <a:spcPts val="400"/>
              </a:spcAft>
            </a:pPr>
            <a:r>
              <a:rPr sz="1800">
                <a:solidFill>
                  <a:srgbClr val="0F172A"/>
                </a:solidFill>
                <a:latin typeface="Microsoft YaHei"/>
              </a:rPr>
              <a:t>真正的安全性来自“短证书生命周期 + 快速局部传播 + 后台集中确认”的组合，而非单点神技。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94360" y="6236208"/>
            <a:ext cx="10972800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900">
                <a:solidFill>
                  <a:srgbClr val="64748B"/>
                </a:solidFill>
                <a:latin typeface="Microsoft YaHei"/>
              </a:rPr>
              <a:t>参考：[R1][R3][R5]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8FA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640080"/>
          </a:xfrm>
          <a:prstGeom prst="rect">
            <a:avLst/>
          </a:prstGeom>
          <a:solidFill>
            <a:srgbClr val="0F172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109728"/>
            <a:ext cx="109728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2400" b="1">
                <a:solidFill>
                  <a:srgbClr val="FFFFFF"/>
                </a:solidFill>
                <a:latin typeface="Microsoft YaHei"/>
              </a:rPr>
              <a:t>7. 如何做“事后追责”：要在匿名性与可追责之间留一条合法开口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85800" y="1234440"/>
            <a:ext cx="10972800" cy="484632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>
              <a:spcBef>
                <a:spcPts val="100"/>
              </a:spcBef>
              <a:spcAft>
                <a:spcPts val="400"/>
              </a:spcAft>
            </a:pPr>
            <a:r>
              <a:rPr sz="1800">
                <a:solidFill>
                  <a:srgbClr val="0F172A"/>
                </a:solidFill>
                <a:latin typeface="Microsoft YaHei"/>
              </a:rPr>
              <a:t>建议机制</a:t>
            </a:r>
          </a:p>
          <a:p>
            <a:pPr>
              <a:spcBef>
                <a:spcPts val="100"/>
              </a:spcBef>
              <a:spcAft>
                <a:spcPts val="400"/>
              </a:spcAft>
            </a:pPr>
            <a:r>
              <a:rPr sz="1800">
                <a:solidFill>
                  <a:srgbClr val="0F172A"/>
                </a:solidFill>
                <a:latin typeface="Microsoft YaHei"/>
              </a:rPr>
              <a:t>日常通信阶段：车辆只使用 伪名证书，默认不可被普通观察者长期跟踪。[R1]</a:t>
            </a:r>
          </a:p>
          <a:p>
            <a:pPr>
              <a:spcBef>
                <a:spcPts val="100"/>
              </a:spcBef>
              <a:spcAft>
                <a:spcPts val="400"/>
              </a:spcAft>
            </a:pPr>
            <a:r>
              <a:rPr sz="1800">
                <a:solidFill>
                  <a:srgbClr val="0F172A"/>
                </a:solidFill>
                <a:latin typeface="Microsoft YaHei"/>
              </a:rPr>
              <a:t>追责触发阶段：由 Misbehavior Authority / Registration Authority / Linkage Authority 按规则协同开链。[R1][R5]</a:t>
            </a:r>
          </a:p>
          <a:p>
            <a:pPr>
              <a:spcBef>
                <a:spcPts val="100"/>
              </a:spcBef>
              <a:spcAft>
                <a:spcPts val="400"/>
              </a:spcAft>
            </a:pPr>
            <a:r>
              <a:rPr sz="1800">
                <a:solidFill>
                  <a:srgbClr val="0F172A"/>
                </a:solidFill>
                <a:latin typeface="Microsoft YaHei"/>
              </a:rPr>
              <a:t>追责证据包建议包括：</a:t>
            </a:r>
          </a:p>
          <a:p>
            <a:pPr lvl="1">
              <a:spcBef>
                <a:spcPts val="100"/>
              </a:spcBef>
              <a:spcAft>
                <a:spcPts val="400"/>
              </a:spcAft>
            </a:pPr>
            <a:r>
              <a:rPr sz="1600">
                <a:solidFill>
                  <a:srgbClr val="475569"/>
                </a:solidFill>
                <a:latin typeface="Microsoft YaHei"/>
              </a:rPr>
              <a:t>争议消息原文与签名；</a:t>
            </a:r>
          </a:p>
          <a:p>
            <a:pPr lvl="1">
              <a:spcBef>
                <a:spcPts val="100"/>
              </a:spcBef>
              <a:spcAft>
                <a:spcPts val="400"/>
              </a:spcAft>
            </a:pPr>
            <a:r>
              <a:rPr sz="1600">
                <a:solidFill>
                  <a:srgbClr val="475569"/>
                </a:solidFill>
                <a:latin typeface="Microsoft YaHei"/>
              </a:rPr>
              <a:t>消息携带的伪名证书链；</a:t>
            </a:r>
          </a:p>
          <a:p>
            <a:pPr lvl="1">
              <a:spcBef>
                <a:spcPts val="100"/>
              </a:spcBef>
              <a:spcAft>
                <a:spcPts val="400"/>
              </a:spcAft>
            </a:pPr>
            <a:r>
              <a:rPr sz="1600">
                <a:solidFill>
                  <a:srgbClr val="475569"/>
                </a:solidFill>
                <a:latin typeface="Microsoft YaHei"/>
              </a:rPr>
              <a:t>RSU / 邻车见证消息（多源交叉）；</a:t>
            </a:r>
          </a:p>
          <a:p>
            <a:pPr lvl="1">
              <a:spcBef>
                <a:spcPts val="100"/>
              </a:spcBef>
              <a:spcAft>
                <a:spcPts val="400"/>
              </a:spcAft>
            </a:pPr>
            <a:r>
              <a:rPr sz="1600">
                <a:solidFill>
                  <a:srgbClr val="475569"/>
                </a:solidFill>
                <a:latin typeface="Microsoft YaHei"/>
              </a:rPr>
              <a:t>本地时间戳、位置、传感器摘要哈希；</a:t>
            </a:r>
          </a:p>
          <a:p>
            <a:pPr lvl="1">
              <a:spcBef>
                <a:spcPts val="100"/>
              </a:spcBef>
              <a:spcAft>
                <a:spcPts val="400"/>
              </a:spcAft>
            </a:pPr>
            <a:r>
              <a:rPr sz="1600">
                <a:solidFill>
                  <a:srgbClr val="475569"/>
                </a:solidFill>
                <a:latin typeface="Microsoft YaHei"/>
              </a:rPr>
              <a:t>撤销判定过程与后台审计日志。</a:t>
            </a:r>
          </a:p>
          <a:p>
            <a:pPr>
              <a:spcBef>
                <a:spcPts val="100"/>
              </a:spcBef>
              <a:spcAft>
                <a:spcPts val="400"/>
              </a:spcAft>
            </a:pPr>
            <a:r>
              <a:rPr sz="1800">
                <a:solidFill>
                  <a:srgbClr val="0F172A"/>
                </a:solidFill>
                <a:latin typeface="Microsoft YaHei"/>
              </a:rPr>
              <a:t>为什么这种方案适合导师关心的“事后追责”</a:t>
            </a:r>
          </a:p>
          <a:p>
            <a:pPr>
              <a:spcBef>
                <a:spcPts val="100"/>
              </a:spcBef>
              <a:spcAft>
                <a:spcPts val="400"/>
              </a:spcAft>
            </a:pPr>
            <a:r>
              <a:rPr sz="1800">
                <a:solidFill>
                  <a:srgbClr val="0F172A"/>
                </a:solidFill>
                <a:latin typeface="Microsoft YaHei"/>
              </a:rPr>
              <a:t>它不是“谁都能追踪车辆”，而是“平时匿名，出事后依法联合解开”。</a:t>
            </a:r>
          </a:p>
          <a:p>
            <a:pPr>
              <a:spcBef>
                <a:spcPts val="100"/>
              </a:spcBef>
              <a:spcAft>
                <a:spcPts val="400"/>
              </a:spcAft>
            </a:pPr>
            <a:r>
              <a:rPr sz="1800">
                <a:solidFill>
                  <a:srgbClr val="0F172A"/>
                </a:solidFill>
                <a:latin typeface="Microsoft YaHei"/>
              </a:rPr>
              <a:t>这与 EATI 的“审计链 + 证据包 + 责任追溯”思路高度一致，只是把对象从 Agent 行为换成了 V2X 消息与车辆节点行为。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94360" y="6236208"/>
            <a:ext cx="10972800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900">
                <a:solidFill>
                  <a:srgbClr val="64748B"/>
                </a:solidFill>
                <a:latin typeface="Microsoft YaHei"/>
              </a:rPr>
              <a:t>参考：[R1][R5]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8FA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640080"/>
          </a:xfrm>
          <a:prstGeom prst="rect">
            <a:avLst/>
          </a:prstGeom>
          <a:solidFill>
            <a:srgbClr val="0F172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109728"/>
            <a:ext cx="109728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2400" b="1">
                <a:solidFill>
                  <a:srgbClr val="FFFFFF"/>
                </a:solidFill>
                <a:latin typeface="Microsoft YaHei"/>
              </a:rPr>
              <a:t>8. 面向弱硬件的总体架构建议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85800" y="1234440"/>
            <a:ext cx="10972800" cy="484632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>
              <a:spcBef>
                <a:spcPts val="100"/>
              </a:spcBef>
              <a:spcAft>
                <a:spcPts val="400"/>
              </a:spcAft>
            </a:pPr>
            <a:r>
              <a:rPr sz="1600">
                <a:solidFill>
                  <a:srgbClr val="0F172A"/>
                </a:solidFill>
                <a:latin typeface="Microsoft YaHei"/>
              </a:rPr>
              <a:t>车端（OBU）</a:t>
            </a:r>
          </a:p>
          <a:p>
            <a:pPr>
              <a:spcBef>
                <a:spcPts val="100"/>
              </a:spcBef>
              <a:spcAft>
                <a:spcPts val="400"/>
              </a:spcAft>
            </a:pPr>
            <a:r>
              <a:rPr sz="1600">
                <a:solidFill>
                  <a:srgbClr val="0F172A"/>
                </a:solidFill>
                <a:latin typeface="Microsoft YaHei"/>
              </a:rPr>
              <a:t>保存少量长期身份材料与一批短期伪名证书。</a:t>
            </a:r>
          </a:p>
          <a:p>
            <a:pPr>
              <a:spcBef>
                <a:spcPts val="100"/>
              </a:spcBef>
              <a:spcAft>
                <a:spcPts val="400"/>
              </a:spcAft>
            </a:pPr>
            <a:r>
              <a:rPr sz="1600">
                <a:solidFill>
                  <a:srgbClr val="0F172A"/>
                </a:solidFill>
                <a:latin typeface="Microsoft YaHei"/>
              </a:rPr>
              <a:t>负责：签名、验签、证书轮换、本地热名单查询。</a:t>
            </a:r>
          </a:p>
          <a:p>
            <a:pPr>
              <a:spcBef>
                <a:spcPts val="100"/>
              </a:spcBef>
              <a:spcAft>
                <a:spcPts val="400"/>
              </a:spcAft>
            </a:pPr>
            <a:r>
              <a:rPr sz="1600">
                <a:solidFill>
                  <a:srgbClr val="0F172A"/>
                </a:solidFill>
                <a:latin typeface="Microsoft YaHei"/>
              </a:rPr>
              <a:t>不负责：复杂开链、全量撤销计算、重型可信执行证明。</a:t>
            </a:r>
          </a:p>
          <a:p>
            <a:pPr>
              <a:spcBef>
                <a:spcPts val="100"/>
              </a:spcBef>
              <a:spcAft>
                <a:spcPts val="400"/>
              </a:spcAft>
            </a:pPr>
            <a:r>
              <a:rPr sz="1600">
                <a:solidFill>
                  <a:srgbClr val="0F172A"/>
                </a:solidFill>
                <a:latin typeface="Microsoft YaHei"/>
              </a:rPr>
              <a:t>路侧（RSU）</a:t>
            </a:r>
          </a:p>
          <a:p>
            <a:pPr>
              <a:spcBef>
                <a:spcPts val="100"/>
              </a:spcBef>
              <a:spcAft>
                <a:spcPts val="400"/>
              </a:spcAft>
            </a:pPr>
            <a:r>
              <a:rPr sz="1600">
                <a:solidFill>
                  <a:srgbClr val="0F172A"/>
                </a:solidFill>
                <a:latin typeface="Microsoft YaHei"/>
              </a:rPr>
              <a:t>负责热点区域撤销信息加速分发、见证上报、证据汇聚。</a:t>
            </a:r>
          </a:p>
          <a:p>
            <a:pPr>
              <a:spcBef>
                <a:spcPts val="100"/>
              </a:spcBef>
              <a:spcAft>
                <a:spcPts val="400"/>
              </a:spcAft>
            </a:pPr>
            <a:r>
              <a:rPr sz="1600">
                <a:solidFill>
                  <a:srgbClr val="0F172A"/>
                </a:solidFill>
                <a:latin typeface="Microsoft YaHei"/>
              </a:rPr>
              <a:t>可承担一定的边缘判定与压缩分发工作。</a:t>
            </a:r>
          </a:p>
          <a:p>
            <a:pPr>
              <a:spcBef>
                <a:spcPts val="100"/>
              </a:spcBef>
              <a:spcAft>
                <a:spcPts val="400"/>
              </a:spcAft>
            </a:pPr>
            <a:r>
              <a:rPr sz="1600">
                <a:solidFill>
                  <a:srgbClr val="0F172A"/>
                </a:solidFill>
                <a:latin typeface="Microsoft YaHei"/>
              </a:rPr>
              <a:t>后台（VPKI / SCMS / CCMS）</a:t>
            </a:r>
          </a:p>
          <a:p>
            <a:pPr>
              <a:spcBef>
                <a:spcPts val="100"/>
              </a:spcBef>
              <a:spcAft>
                <a:spcPts val="400"/>
              </a:spcAft>
            </a:pPr>
            <a:r>
              <a:rPr sz="1600">
                <a:solidFill>
                  <a:srgbClr val="0F172A"/>
                </a:solidFill>
                <a:latin typeface="Microsoft YaHei"/>
              </a:rPr>
              <a:t>负责注册、授权、撤销、误行为分析、条件开链、审计归档。</a:t>
            </a:r>
          </a:p>
          <a:p>
            <a:pPr>
              <a:spcBef>
                <a:spcPts val="100"/>
              </a:spcBef>
              <a:spcAft>
                <a:spcPts val="400"/>
              </a:spcAft>
            </a:pPr>
            <a:r>
              <a:rPr sz="1600">
                <a:solidFill>
                  <a:srgbClr val="0F172A"/>
                </a:solidFill>
                <a:latin typeface="Microsoft YaHei"/>
              </a:rPr>
              <a:t>重点组件：EA / AA / RA / TLM / LA / MA。[R1][R3][R5]</a:t>
            </a:r>
          </a:p>
          <a:p>
            <a:pPr>
              <a:spcBef>
                <a:spcPts val="100"/>
              </a:spcBef>
              <a:spcAft>
                <a:spcPts val="400"/>
              </a:spcAft>
            </a:pPr>
            <a:r>
              <a:rPr sz="1600">
                <a:solidFill>
                  <a:srgbClr val="0F172A"/>
                </a:solidFill>
                <a:latin typeface="Microsoft YaHei"/>
              </a:rPr>
              <a:t>与 EATI 的映射</a:t>
            </a:r>
          </a:p>
          <a:p>
            <a:pPr>
              <a:spcBef>
                <a:spcPts val="100"/>
              </a:spcBef>
              <a:spcAft>
                <a:spcPts val="400"/>
              </a:spcAft>
            </a:pPr>
            <a:r>
              <a:rPr sz="1600">
                <a:solidFill>
                  <a:srgbClr val="0F172A"/>
                </a:solidFill>
                <a:latin typeface="Microsoft YaHei"/>
              </a:rPr>
              <a:t>EAID / X.509 / DID → 车辆长期注册身份</a:t>
            </a:r>
          </a:p>
          <a:p>
            <a:pPr>
              <a:spcBef>
                <a:spcPts val="100"/>
              </a:spcBef>
              <a:spcAft>
                <a:spcPts val="400"/>
              </a:spcAft>
            </a:pPr>
            <a:r>
              <a:rPr sz="1600">
                <a:solidFill>
                  <a:srgbClr val="0F172A"/>
                </a:solidFill>
                <a:latin typeface="Microsoft YaHei"/>
              </a:rPr>
              <a:t>签名 SDK → OBU 消息签名组件</a:t>
            </a:r>
          </a:p>
          <a:p>
            <a:pPr>
              <a:spcBef>
                <a:spcPts val="100"/>
              </a:spcBef>
              <a:spcAft>
                <a:spcPts val="400"/>
              </a:spcAft>
            </a:pPr>
            <a:r>
              <a:rPr sz="1600">
                <a:solidFill>
                  <a:srgbClr val="0F172A"/>
                </a:solidFill>
                <a:latin typeface="Microsoft YaHei"/>
              </a:rPr>
              <a:t>审计链 / 证据包 → 误行为取证与责任认定材料</a:t>
            </a:r>
          </a:p>
          <a:p>
            <a:pPr>
              <a:spcBef>
                <a:spcPts val="100"/>
              </a:spcBef>
              <a:spcAft>
                <a:spcPts val="400"/>
              </a:spcAft>
            </a:pPr>
            <a:r>
              <a:rPr sz="1600">
                <a:solidFill>
                  <a:srgbClr val="0F172A"/>
                </a:solidFill>
                <a:latin typeface="Microsoft YaHei"/>
              </a:rPr>
              <a:t>监管追溯 → MA/LA 条件开链与审计留痕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94360" y="6236208"/>
            <a:ext cx="10972800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900">
                <a:solidFill>
                  <a:srgbClr val="64748B"/>
                </a:solidFill>
                <a:latin typeface="Microsoft YaHei"/>
              </a:rPr>
              <a:t>参考：[R1][R3][R5]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8FA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640080"/>
          </a:xfrm>
          <a:prstGeom prst="rect">
            <a:avLst/>
          </a:prstGeom>
          <a:solidFill>
            <a:srgbClr val="0F172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109728"/>
            <a:ext cx="109728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2400" b="1">
                <a:solidFill>
                  <a:srgbClr val="FFFFFF"/>
                </a:solidFill>
                <a:latin typeface="Microsoft YaHei"/>
              </a:rPr>
              <a:t>9. 可行性判断：这条路线适合作为课题，但要控制边界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85800" y="1234440"/>
            <a:ext cx="10972800" cy="484632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>
              <a:spcBef>
                <a:spcPts val="100"/>
              </a:spcBef>
              <a:spcAft>
                <a:spcPts val="400"/>
              </a:spcAft>
            </a:pPr>
            <a:r>
              <a:rPr sz="1800">
                <a:solidFill>
                  <a:srgbClr val="0F172A"/>
                </a:solidFill>
                <a:latin typeface="Microsoft YaHei"/>
              </a:rPr>
              <a:t>可行的原因</a:t>
            </a:r>
          </a:p>
          <a:p>
            <a:pPr>
              <a:spcBef>
                <a:spcPts val="100"/>
              </a:spcBef>
              <a:spcAft>
                <a:spcPts val="400"/>
              </a:spcAft>
            </a:pPr>
            <a:r>
              <a:rPr sz="1800">
                <a:solidFill>
                  <a:srgbClr val="0F172A"/>
                </a:solidFill>
                <a:latin typeface="Microsoft YaHei"/>
              </a:rPr>
              <a:t>已有标准和实现链路，不是从零发明。[R1][R2][R3][R4][R6]</a:t>
            </a:r>
          </a:p>
          <a:p>
            <a:pPr>
              <a:spcBef>
                <a:spcPts val="100"/>
              </a:spcBef>
              <a:spcAft>
                <a:spcPts val="400"/>
              </a:spcAft>
            </a:pPr>
            <a:r>
              <a:rPr sz="1800">
                <a:solidFill>
                  <a:srgbClr val="0F172A"/>
                </a:solidFill>
                <a:latin typeface="Microsoft YaHei"/>
              </a:rPr>
              <a:t>车端只做轻量密码学，符合弱硬件特点。[R2]</a:t>
            </a:r>
          </a:p>
          <a:p>
            <a:pPr>
              <a:spcBef>
                <a:spcPts val="100"/>
              </a:spcBef>
              <a:spcAft>
                <a:spcPts val="400"/>
              </a:spcAft>
            </a:pPr>
            <a:r>
              <a:rPr sz="1800">
                <a:solidFill>
                  <a:srgbClr val="0F172A"/>
                </a:solidFill>
                <a:latin typeface="Microsoft YaHei"/>
              </a:rPr>
              <a:t>隐私与追责的冲突，已有 SCMS/CCMS 的成熟治理框架可借鉴。[R1][R5]</a:t>
            </a:r>
          </a:p>
          <a:p>
            <a:pPr>
              <a:spcBef>
                <a:spcPts val="100"/>
              </a:spcBef>
              <a:spcAft>
                <a:spcPts val="400"/>
              </a:spcAft>
            </a:pPr>
            <a:r>
              <a:rPr sz="1800">
                <a:solidFill>
                  <a:srgbClr val="0F172A"/>
                </a:solidFill>
                <a:latin typeface="Microsoft YaHei"/>
              </a:rPr>
              <a:t>课题边界建议</a:t>
            </a:r>
          </a:p>
          <a:p>
            <a:pPr>
              <a:spcBef>
                <a:spcPts val="100"/>
              </a:spcBef>
              <a:spcAft>
                <a:spcPts val="400"/>
              </a:spcAft>
            </a:pPr>
            <a:r>
              <a:rPr sz="1800">
                <a:solidFill>
                  <a:srgbClr val="0F172A"/>
                </a:solidFill>
                <a:latin typeface="Microsoft YaHei"/>
              </a:rPr>
              <a:t>不要 试图一次性解决“全球互联互信 + 全自动恶意判定 + 完整法律裁决”。</a:t>
            </a:r>
          </a:p>
          <a:p>
            <a:pPr>
              <a:spcBef>
                <a:spcPts val="100"/>
              </a:spcBef>
              <a:spcAft>
                <a:spcPts val="400"/>
              </a:spcAft>
            </a:pPr>
            <a:r>
              <a:rPr sz="1800">
                <a:solidFill>
                  <a:srgbClr val="0F172A"/>
                </a:solidFill>
                <a:latin typeface="Microsoft YaHei"/>
              </a:rPr>
              <a:t>更适合聚焦一个可验证问题：</a:t>
            </a:r>
          </a:p>
          <a:p>
            <a:pPr>
              <a:spcBef>
                <a:spcPts val="100"/>
              </a:spcBef>
              <a:spcAft>
                <a:spcPts val="400"/>
              </a:spcAft>
            </a:pPr>
            <a:r>
              <a:rPr sz="1800">
                <a:solidFill>
                  <a:srgbClr val="0F172A"/>
                </a:solidFill>
                <a:latin typeface="Microsoft YaHei"/>
              </a:rPr>
              <a:t>弱硬件下低开销撤销传播机制；或</a:t>
            </a:r>
          </a:p>
          <a:p>
            <a:pPr>
              <a:spcBef>
                <a:spcPts val="100"/>
              </a:spcBef>
              <a:spcAft>
                <a:spcPts val="400"/>
              </a:spcAft>
            </a:pPr>
            <a:r>
              <a:rPr sz="1800">
                <a:solidFill>
                  <a:srgbClr val="0F172A"/>
                </a:solidFill>
                <a:latin typeface="Microsoft YaHei"/>
              </a:rPr>
              <a:t>面向追责的 V2X 证据包模型；或</a:t>
            </a:r>
          </a:p>
          <a:p>
            <a:pPr>
              <a:spcBef>
                <a:spcPts val="100"/>
              </a:spcBef>
              <a:spcAft>
                <a:spcPts val="400"/>
              </a:spcAft>
            </a:pPr>
            <a:r>
              <a:rPr sz="1800">
                <a:solidFill>
                  <a:srgbClr val="0F172A"/>
                </a:solidFill>
                <a:latin typeface="Microsoft YaHei"/>
              </a:rPr>
              <a:t>伪名隐私与条件开链的工程权衡。</a:t>
            </a:r>
          </a:p>
          <a:p>
            <a:pPr>
              <a:spcBef>
                <a:spcPts val="100"/>
              </a:spcBef>
              <a:spcAft>
                <a:spcPts val="400"/>
              </a:spcAft>
            </a:pPr>
            <a:r>
              <a:rPr sz="1800">
                <a:solidFill>
                  <a:srgbClr val="0F172A"/>
                </a:solidFill>
                <a:latin typeface="Microsoft YaHei"/>
              </a:rPr>
              <a:t>一句评价</a:t>
            </a:r>
          </a:p>
          <a:p>
            <a:pPr>
              <a:spcBef>
                <a:spcPts val="100"/>
              </a:spcBef>
              <a:spcAft>
                <a:spcPts val="400"/>
              </a:spcAft>
            </a:pPr>
            <a:r>
              <a:rPr sz="1800">
                <a:solidFill>
                  <a:srgbClr val="0F172A"/>
                </a:solidFill>
                <a:latin typeface="Microsoft YaHei"/>
              </a:rPr>
              <a:t>这不是“能不能做”的问题，而是“把难点限定在可工程化的两个环节”——撤销传播和证据追责。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94360" y="6236208"/>
            <a:ext cx="10972800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900">
                <a:solidFill>
                  <a:srgbClr val="64748B"/>
                </a:solidFill>
                <a:latin typeface="Microsoft YaHei"/>
              </a:rPr>
              <a:t>参考：[R1][R2][R3][R4][R5][R6]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8FA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640080"/>
          </a:xfrm>
          <a:prstGeom prst="rect">
            <a:avLst/>
          </a:prstGeom>
          <a:solidFill>
            <a:srgbClr val="0F172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109728"/>
            <a:ext cx="109728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2400" b="1">
                <a:solidFill>
                  <a:srgbClr val="FFFFFF"/>
                </a:solidFill>
                <a:latin typeface="Microsoft YaHei"/>
              </a:rPr>
              <a:t>10. 后续实现路线（建议作为论文/项目路线图）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85800" y="1234440"/>
            <a:ext cx="10972800" cy="484632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>
              <a:spcBef>
                <a:spcPts val="100"/>
              </a:spcBef>
              <a:spcAft>
                <a:spcPts val="400"/>
              </a:spcAft>
            </a:pPr>
            <a:r>
              <a:rPr sz="1600">
                <a:solidFill>
                  <a:srgbClr val="0F172A"/>
                </a:solidFill>
                <a:latin typeface="Microsoft YaHei"/>
              </a:rPr>
              <a:t>Phase 1：最小可行原型</a:t>
            </a:r>
          </a:p>
          <a:p>
            <a:pPr>
              <a:spcBef>
                <a:spcPts val="100"/>
              </a:spcBef>
              <a:spcAft>
                <a:spcPts val="400"/>
              </a:spcAft>
            </a:pPr>
            <a:r>
              <a:rPr sz="1600">
                <a:solidFill>
                  <a:srgbClr val="0F172A"/>
                </a:solidFill>
                <a:latin typeface="Microsoft YaHei"/>
              </a:rPr>
              <a:t>建立 EA / AA / TLM 的简化 PKI；</a:t>
            </a:r>
          </a:p>
          <a:p>
            <a:pPr>
              <a:spcBef>
                <a:spcPts val="100"/>
              </a:spcBef>
              <a:spcAft>
                <a:spcPts val="400"/>
              </a:spcAft>
            </a:pPr>
            <a:r>
              <a:rPr sz="1600">
                <a:solidFill>
                  <a:srgbClr val="0F172A"/>
                </a:solidFill>
                <a:latin typeface="Microsoft YaHei"/>
              </a:rPr>
              <a:t>OBU 使用短期伪名证书完成 V2X 消息签名/验签；</a:t>
            </a:r>
          </a:p>
          <a:p>
            <a:pPr>
              <a:spcBef>
                <a:spcPts val="100"/>
              </a:spcBef>
              <a:spcAft>
                <a:spcPts val="400"/>
              </a:spcAft>
            </a:pPr>
            <a:r>
              <a:rPr sz="1600">
                <a:solidFill>
                  <a:srgbClr val="0F172A"/>
                </a:solidFill>
                <a:latin typeface="Microsoft YaHei"/>
              </a:rPr>
              <a:t>支持全量 CRL 与本地撤销检查。</a:t>
            </a:r>
          </a:p>
          <a:p>
            <a:pPr>
              <a:spcBef>
                <a:spcPts val="100"/>
              </a:spcBef>
              <a:spcAft>
                <a:spcPts val="400"/>
              </a:spcAft>
            </a:pPr>
            <a:r>
              <a:rPr sz="1600">
                <a:solidFill>
                  <a:srgbClr val="0F172A"/>
                </a:solidFill>
                <a:latin typeface="Microsoft YaHei"/>
              </a:rPr>
              <a:t>Phase 2：面向弱硬件优化</a:t>
            </a:r>
          </a:p>
          <a:p>
            <a:pPr>
              <a:spcBef>
                <a:spcPts val="100"/>
              </a:spcBef>
              <a:spcAft>
                <a:spcPts val="400"/>
              </a:spcAft>
            </a:pPr>
            <a:r>
              <a:rPr sz="1600">
                <a:solidFill>
                  <a:srgbClr val="0F172A"/>
                </a:solidFill>
                <a:latin typeface="Microsoft YaHei"/>
              </a:rPr>
              <a:t>引入 Butterfly Key Expansion；</a:t>
            </a:r>
          </a:p>
          <a:p>
            <a:pPr>
              <a:spcBef>
                <a:spcPts val="100"/>
              </a:spcBef>
              <a:spcAft>
                <a:spcPts val="400"/>
              </a:spcAft>
            </a:pPr>
            <a:r>
              <a:rPr sz="1600">
                <a:solidFill>
                  <a:srgbClr val="0F172A"/>
                </a:solidFill>
                <a:latin typeface="Microsoft YaHei"/>
              </a:rPr>
              <a:t>增量 CRL + RSU 热更新；</a:t>
            </a:r>
          </a:p>
          <a:p>
            <a:pPr>
              <a:spcBef>
                <a:spcPts val="100"/>
              </a:spcBef>
              <a:spcAft>
                <a:spcPts val="400"/>
              </a:spcAft>
            </a:pPr>
            <a:r>
              <a:rPr sz="1600">
                <a:solidFill>
                  <a:srgbClr val="0F172A"/>
                </a:solidFill>
                <a:latin typeface="Microsoft YaHei"/>
              </a:rPr>
              <a:t>评估签名/验签时延、证书切换时延、撤销传播时延。</a:t>
            </a:r>
          </a:p>
          <a:p>
            <a:pPr>
              <a:spcBef>
                <a:spcPts val="100"/>
              </a:spcBef>
              <a:spcAft>
                <a:spcPts val="400"/>
              </a:spcAft>
            </a:pPr>
            <a:r>
              <a:rPr sz="1600">
                <a:solidFill>
                  <a:srgbClr val="0F172A"/>
                </a:solidFill>
                <a:latin typeface="Microsoft YaHei"/>
              </a:rPr>
              <a:t>Phase 3：引入事后追责</a:t>
            </a:r>
          </a:p>
          <a:p>
            <a:pPr>
              <a:spcBef>
                <a:spcPts val="100"/>
              </a:spcBef>
              <a:spcAft>
                <a:spcPts val="400"/>
              </a:spcAft>
            </a:pPr>
            <a:r>
              <a:rPr sz="1600">
                <a:solidFill>
                  <a:srgbClr val="0F172A"/>
                </a:solidFill>
                <a:latin typeface="Microsoft YaHei"/>
              </a:rPr>
              <a:t>增加 Misbehavior Report、证据包格式、后台审计日志；</a:t>
            </a:r>
          </a:p>
          <a:p>
            <a:pPr>
              <a:spcBef>
                <a:spcPts val="100"/>
              </a:spcBef>
              <a:spcAft>
                <a:spcPts val="400"/>
              </a:spcAft>
            </a:pPr>
            <a:r>
              <a:rPr sz="1600">
                <a:solidFill>
                  <a:srgbClr val="0F172A"/>
                </a:solidFill>
                <a:latin typeface="Microsoft YaHei"/>
              </a:rPr>
              <a:t>增加 LA / MA 条件开链；</a:t>
            </a:r>
          </a:p>
          <a:p>
            <a:pPr>
              <a:spcBef>
                <a:spcPts val="100"/>
              </a:spcBef>
              <a:spcAft>
                <a:spcPts val="400"/>
              </a:spcAft>
            </a:pPr>
            <a:r>
              <a:rPr sz="1600">
                <a:solidFill>
                  <a:srgbClr val="0F172A"/>
                </a:solidFill>
                <a:latin typeface="Microsoft YaHei"/>
              </a:rPr>
              <a:t>设计“谁能开链、在什么条件下开链”的治理规则。</a:t>
            </a:r>
          </a:p>
          <a:p>
            <a:pPr>
              <a:spcBef>
                <a:spcPts val="100"/>
              </a:spcBef>
              <a:spcAft>
                <a:spcPts val="400"/>
              </a:spcAft>
            </a:pPr>
            <a:r>
              <a:rPr sz="1600">
                <a:solidFill>
                  <a:srgbClr val="0F172A"/>
                </a:solidFill>
                <a:latin typeface="Microsoft YaHei"/>
              </a:rPr>
              <a:t>Phase 4：合规与产业化</a:t>
            </a:r>
          </a:p>
          <a:p>
            <a:pPr>
              <a:spcBef>
                <a:spcPts val="100"/>
              </a:spcBef>
              <a:spcAft>
                <a:spcPts val="400"/>
              </a:spcAft>
            </a:pPr>
            <a:r>
              <a:rPr sz="1600">
                <a:solidFill>
                  <a:srgbClr val="0F172A"/>
                </a:solidFill>
                <a:latin typeface="Microsoft YaHei"/>
              </a:rPr>
              <a:t>国际曲线 / 国密双栈；</a:t>
            </a:r>
          </a:p>
          <a:p>
            <a:pPr>
              <a:spcBef>
                <a:spcPts val="100"/>
              </a:spcBef>
              <a:spcAft>
                <a:spcPts val="400"/>
              </a:spcAft>
            </a:pPr>
            <a:r>
              <a:rPr sz="1600">
                <a:solidFill>
                  <a:srgbClr val="0F172A"/>
                </a:solidFill>
                <a:latin typeface="Microsoft YaHei"/>
              </a:rPr>
              <a:t>对接车厂 T-Box / OBU、RSU、路侧平台；</a:t>
            </a:r>
          </a:p>
          <a:p>
            <a:pPr>
              <a:spcBef>
                <a:spcPts val="100"/>
              </a:spcBef>
              <a:spcAft>
                <a:spcPts val="400"/>
              </a:spcAft>
            </a:pPr>
            <a:r>
              <a:rPr sz="1600">
                <a:solidFill>
                  <a:srgbClr val="0F172A"/>
                </a:solidFill>
                <a:latin typeface="Microsoft YaHei"/>
              </a:rPr>
              <a:t>对齐 ISO/SAE 21434、UNECE R155/R156 等车规安全治理要求。[R6]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94360" y="6236208"/>
            <a:ext cx="10972800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900">
                <a:solidFill>
                  <a:srgbClr val="64748B"/>
                </a:solidFill>
                <a:latin typeface="Microsoft YaHei"/>
              </a:rPr>
              <a:t>参考：[R6]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8FA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640080"/>
          </a:xfrm>
          <a:prstGeom prst="rect">
            <a:avLst/>
          </a:prstGeom>
          <a:solidFill>
            <a:srgbClr val="0F172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109728"/>
            <a:ext cx="109728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2400" b="1">
                <a:solidFill>
                  <a:srgbClr val="FFFFFF"/>
                </a:solidFill>
                <a:latin typeface="Microsoft YaHei"/>
              </a:rPr>
              <a:t>11. 建议你在汇报时直接给导师的结论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85800" y="1234440"/>
            <a:ext cx="10972800" cy="484632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>
              <a:spcBef>
                <a:spcPts val="100"/>
              </a:spcBef>
              <a:spcAft>
                <a:spcPts val="400"/>
              </a:spcAft>
            </a:pPr>
            <a:r>
              <a:rPr sz="2000">
                <a:solidFill>
                  <a:srgbClr val="0F172A"/>
                </a:solidFill>
                <a:latin typeface="Microsoft YaHei"/>
              </a:rPr>
              <a:t>可以做，而且值得做。</a:t>
            </a:r>
          </a:p>
          <a:p>
            <a:pPr>
              <a:spcBef>
                <a:spcPts val="100"/>
              </a:spcBef>
              <a:spcAft>
                <a:spcPts val="400"/>
              </a:spcAft>
            </a:pPr>
            <a:r>
              <a:rPr sz="2000">
                <a:solidFill>
                  <a:srgbClr val="0F172A"/>
                </a:solidFill>
                <a:latin typeface="Microsoft YaHei"/>
              </a:rPr>
              <a:t>最合适的技术路线不是重型匿名密码，而是：</a:t>
            </a:r>
          </a:p>
          <a:p>
            <a:pPr lvl="1">
              <a:spcBef>
                <a:spcPts val="100"/>
              </a:spcBef>
              <a:spcAft>
                <a:spcPts val="400"/>
              </a:spcAft>
            </a:pPr>
            <a:r>
              <a:rPr sz="1800">
                <a:solidFill>
                  <a:srgbClr val="475569"/>
                </a:solidFill>
                <a:latin typeface="Microsoft YaHei"/>
              </a:rPr>
              <a:t>ECC + 伪名证书 + 分层撤销 + 条件开链追责。</a:t>
            </a:r>
          </a:p>
          <a:p>
            <a:pPr>
              <a:spcBef>
                <a:spcPts val="100"/>
              </a:spcBef>
              <a:spcAft>
                <a:spcPts val="400"/>
              </a:spcAft>
            </a:pPr>
            <a:r>
              <a:rPr sz="2000">
                <a:solidFill>
                  <a:srgbClr val="0F172A"/>
                </a:solidFill>
                <a:latin typeface="Microsoft YaHei"/>
              </a:rPr>
              <a:t>最有研究价值的切入点是：</a:t>
            </a:r>
          </a:p>
          <a:p>
            <a:pPr lvl="1">
              <a:spcBef>
                <a:spcPts val="100"/>
              </a:spcBef>
              <a:spcAft>
                <a:spcPts val="400"/>
              </a:spcAft>
            </a:pPr>
            <a:r>
              <a:rPr sz="1800">
                <a:solidFill>
                  <a:srgbClr val="475569"/>
                </a:solidFill>
                <a:latin typeface="Microsoft YaHei"/>
              </a:rPr>
              <a:t>弱硬件下的撤销传播优化；</a:t>
            </a:r>
          </a:p>
          <a:p>
            <a:pPr lvl="1">
              <a:spcBef>
                <a:spcPts val="100"/>
              </a:spcBef>
              <a:spcAft>
                <a:spcPts val="400"/>
              </a:spcAft>
            </a:pPr>
            <a:r>
              <a:rPr sz="1800">
                <a:solidFill>
                  <a:srgbClr val="475569"/>
                </a:solidFill>
                <a:latin typeface="Microsoft YaHei"/>
              </a:rPr>
              <a:t>不破坏隐私的恶意车辆事后追责机制；</a:t>
            </a:r>
          </a:p>
          <a:p>
            <a:pPr lvl="1">
              <a:spcBef>
                <a:spcPts val="100"/>
              </a:spcBef>
              <a:spcAft>
                <a:spcPts val="400"/>
              </a:spcAft>
            </a:pPr>
            <a:r>
              <a:rPr sz="1800">
                <a:solidFill>
                  <a:srgbClr val="475569"/>
                </a:solidFill>
                <a:latin typeface="Microsoft YaHei"/>
              </a:rPr>
              <a:t>证据包标准化与工程闭环。</a:t>
            </a:r>
          </a:p>
          <a:p>
            <a:pPr>
              <a:spcBef>
                <a:spcPts val="100"/>
              </a:spcBef>
              <a:spcAft>
                <a:spcPts val="400"/>
              </a:spcAft>
            </a:pPr>
            <a:r>
              <a:rPr sz="2000">
                <a:solidFill>
                  <a:srgbClr val="0F172A"/>
                </a:solidFill>
                <a:latin typeface="Microsoft YaHei"/>
              </a:rPr>
              <a:t>如果要写成一条清晰的题目，可以考虑：</a:t>
            </a:r>
          </a:p>
          <a:p>
            <a:pPr lvl="1">
              <a:spcBef>
                <a:spcPts val="100"/>
              </a:spcBef>
              <a:spcAft>
                <a:spcPts val="400"/>
              </a:spcAft>
            </a:pPr>
            <a:r>
              <a:rPr sz="1800">
                <a:solidFill>
                  <a:srgbClr val="475569"/>
                </a:solidFill>
                <a:latin typeface="Microsoft YaHei"/>
              </a:rPr>
              <a:t>“面向弱硬件 VANET 的分层撤销与条件追责机制研究”</a:t>
            </a:r>
          </a:p>
          <a:p>
            <a:pPr lvl="1">
              <a:spcBef>
                <a:spcPts val="100"/>
              </a:spcBef>
              <a:spcAft>
                <a:spcPts val="400"/>
              </a:spcAft>
            </a:pPr>
            <a:r>
              <a:rPr sz="1800">
                <a:solidFill>
                  <a:srgbClr val="475569"/>
                </a:solidFill>
                <a:latin typeface="Microsoft YaHei"/>
              </a:rPr>
              <a:t>“基于伪名证书与条件开链的车联网恶意节点追责框架设计”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8FA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640080"/>
          </a:xfrm>
          <a:prstGeom prst="rect">
            <a:avLst/>
          </a:prstGeom>
          <a:solidFill>
            <a:srgbClr val="0F172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109728"/>
            <a:ext cx="109728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2400" b="1">
                <a:solidFill>
                  <a:srgbClr val="FFFFFF"/>
                </a:solidFill>
                <a:latin typeface="Microsoft YaHei"/>
              </a:rPr>
              <a:t>12. 联网补充：值得优先阅读的文献与资料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594360" y="1325880"/>
            <a:ext cx="2331720" cy="576072"/>
          </a:xfrm>
          <a:prstGeom prst="roundRect">
            <a:avLst/>
          </a:prstGeom>
          <a:solidFill>
            <a:srgbClr val="2563EB"/>
          </a:solidFill>
          <a:ln>
            <a:solidFill>
              <a:srgbClr val="2563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667512" y="1399032"/>
            <a:ext cx="2212848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500" b="1">
                <a:solidFill>
                  <a:srgbClr val="FFFFFF"/>
                </a:solidFill>
                <a:latin typeface="Microsoft YaHei"/>
              </a:rPr>
              <a:t>方向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2971800" y="1325880"/>
            <a:ext cx="1600200" cy="576072"/>
          </a:xfrm>
          <a:prstGeom prst="roundRect">
            <a:avLst/>
          </a:prstGeom>
          <a:solidFill>
            <a:srgbClr val="2563EB"/>
          </a:solidFill>
          <a:ln>
            <a:solidFill>
              <a:srgbClr val="2563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3044952" y="1399032"/>
            <a:ext cx="1481328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500" b="1">
                <a:solidFill>
                  <a:srgbClr val="FFFFFF"/>
                </a:solidFill>
                <a:latin typeface="Microsoft YaHei"/>
              </a:rPr>
              <a:t>现状判断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617720" y="1325880"/>
            <a:ext cx="6812280" cy="576072"/>
          </a:xfrm>
          <a:prstGeom prst="roundRect">
            <a:avLst/>
          </a:prstGeom>
          <a:solidFill>
            <a:srgbClr val="2563EB"/>
          </a:solidFill>
          <a:ln>
            <a:solidFill>
              <a:srgbClr val="2563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4690872" y="1399032"/>
            <a:ext cx="6693408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500" b="1">
                <a:solidFill>
                  <a:srgbClr val="FFFFFF"/>
                </a:solidFill>
                <a:latin typeface="Microsoft YaHei"/>
              </a:rPr>
              <a:t>说明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594360" y="2039112"/>
            <a:ext cx="2331720" cy="576072"/>
          </a:xfrm>
          <a:prstGeom prst="roundRect">
            <a:avLst/>
          </a:prstGeom>
          <a:solidFill>
            <a:srgbClr val="FFFFFF"/>
          </a:solidFill>
          <a:ln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67512" y="2084832"/>
            <a:ext cx="2212848" cy="4114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300">
                <a:solidFill>
                  <a:srgbClr val="0F172A"/>
                </a:solidFill>
                <a:latin typeface="Microsoft YaHei"/>
              </a:rPr>
              <a:t>你的问题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2971800" y="2039112"/>
            <a:ext cx="1600200" cy="576072"/>
          </a:xfrm>
          <a:prstGeom prst="roundRect">
            <a:avLst/>
          </a:prstGeom>
          <a:solidFill>
            <a:srgbClr val="FFFFFF"/>
          </a:solidFill>
          <a:ln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3044952" y="2084832"/>
            <a:ext cx="1481328" cy="4114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300">
                <a:solidFill>
                  <a:srgbClr val="0F172A"/>
                </a:solidFill>
                <a:latin typeface="Microsoft YaHei"/>
              </a:rPr>
              <a:t>最值得先读的文献/资料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4617720" y="2039112"/>
            <a:ext cx="6812280" cy="576072"/>
          </a:xfrm>
          <a:prstGeom prst="roundRect">
            <a:avLst/>
          </a:prstGeom>
          <a:solidFill>
            <a:srgbClr val="FFFFFF"/>
          </a:solidFill>
          <a:ln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4690872" y="2084832"/>
            <a:ext cx="6693408" cy="4114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100">
                <a:solidFill>
                  <a:srgbClr val="475569"/>
                </a:solidFill>
                <a:latin typeface="Microsoft YaHei"/>
              </a:rPr>
              <a:t>读它的原因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594360" y="2660904"/>
            <a:ext cx="2331720" cy="576072"/>
          </a:xfrm>
          <a:prstGeom prst="roundRect">
            <a:avLst/>
          </a:prstGeom>
          <a:solidFill>
            <a:srgbClr val="DBEAFE"/>
          </a:solidFill>
          <a:ln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667512" y="2706624"/>
            <a:ext cx="2212848" cy="4114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300">
                <a:solidFill>
                  <a:srgbClr val="0F172A"/>
                </a:solidFill>
                <a:latin typeface="Microsoft YaHei"/>
              </a:rPr>
              <a:t>能不能做？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2971800" y="2660904"/>
            <a:ext cx="1600200" cy="576072"/>
          </a:xfrm>
          <a:prstGeom prst="roundRect">
            <a:avLst/>
          </a:prstGeom>
          <a:solidFill>
            <a:srgbClr val="DBEAFE"/>
          </a:solidFill>
          <a:ln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3044952" y="2706624"/>
            <a:ext cx="1481328" cy="4114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300">
                <a:solidFill>
                  <a:srgbClr val="0F172A"/>
                </a:solidFill>
                <a:latin typeface="Microsoft YaHei"/>
              </a:rPr>
              <a:t>Brecht et al. 2018；IEEE 1609.2；ETSI TS 102 941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4617720" y="2660904"/>
            <a:ext cx="6812280" cy="576072"/>
          </a:xfrm>
          <a:prstGeom prst="roundRect">
            <a:avLst/>
          </a:prstGeom>
          <a:solidFill>
            <a:srgbClr val="DBEAFE"/>
          </a:solidFill>
          <a:ln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4690872" y="2706624"/>
            <a:ext cx="6693408" cy="4114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100">
                <a:solidFill>
                  <a:srgbClr val="475569"/>
                </a:solidFill>
                <a:latin typeface="Microsoft YaHei"/>
              </a:rPr>
              <a:t>给出成熟架构与标准基线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594360" y="3282696"/>
            <a:ext cx="2331720" cy="576072"/>
          </a:xfrm>
          <a:prstGeom prst="roundRect">
            <a:avLst/>
          </a:prstGeom>
          <a:solidFill>
            <a:srgbClr val="FFFFFF"/>
          </a:solidFill>
          <a:ln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667512" y="3328416"/>
            <a:ext cx="2212848" cy="4114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300">
                <a:solidFill>
                  <a:srgbClr val="0F172A"/>
                </a:solidFill>
                <a:latin typeface="Microsoft YaHei"/>
              </a:rPr>
              <a:t>用什么密码学？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2971800" y="3282696"/>
            <a:ext cx="1600200" cy="576072"/>
          </a:xfrm>
          <a:prstGeom prst="roundRect">
            <a:avLst/>
          </a:prstGeom>
          <a:solidFill>
            <a:srgbClr val="FFFFFF"/>
          </a:solidFill>
          <a:ln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3044952" y="3328416"/>
            <a:ext cx="1481328" cy="4114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300">
                <a:solidFill>
                  <a:srgbClr val="0F172A"/>
                </a:solidFill>
                <a:latin typeface="Microsoft YaHei"/>
              </a:rPr>
              <a:t>IEEE 1609.2；ISO-TC204 Primer；FITSec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4617720" y="3282696"/>
            <a:ext cx="6812280" cy="576072"/>
          </a:xfrm>
          <a:prstGeom prst="roundRect">
            <a:avLst/>
          </a:prstGeom>
          <a:solidFill>
            <a:srgbClr val="FFFFFF"/>
          </a:solidFill>
          <a:ln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4690872" y="3328416"/>
            <a:ext cx="6693408" cy="4114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100">
                <a:solidFill>
                  <a:srgbClr val="475569"/>
                </a:solidFill>
                <a:latin typeface="Microsoft YaHei"/>
              </a:rPr>
              <a:t>明确 ECC、伪名证书、证书轮换的主流路线</a:t>
            </a:r>
          </a:p>
        </p:txBody>
      </p:sp>
      <p:sp>
        <p:nvSpPr>
          <p:cNvPr id="29" name="Rounded Rectangle 28"/>
          <p:cNvSpPr/>
          <p:nvPr/>
        </p:nvSpPr>
        <p:spPr>
          <a:xfrm>
            <a:off x="594360" y="3904488"/>
            <a:ext cx="2331720" cy="576072"/>
          </a:xfrm>
          <a:prstGeom prst="roundRect">
            <a:avLst/>
          </a:prstGeom>
          <a:solidFill>
            <a:srgbClr val="DBEAFE"/>
          </a:solidFill>
          <a:ln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667512" y="3950208"/>
            <a:ext cx="2212848" cy="4114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300">
                <a:solidFill>
                  <a:srgbClr val="0F172A"/>
                </a:solidFill>
                <a:latin typeface="Microsoft YaHei"/>
              </a:rPr>
              <a:t>实时撤销怎么做？</a:t>
            </a:r>
          </a:p>
        </p:txBody>
      </p:sp>
      <p:sp>
        <p:nvSpPr>
          <p:cNvPr id="31" name="Rounded Rectangle 30"/>
          <p:cNvSpPr/>
          <p:nvPr/>
        </p:nvSpPr>
        <p:spPr>
          <a:xfrm>
            <a:off x="2971800" y="3904488"/>
            <a:ext cx="1600200" cy="576072"/>
          </a:xfrm>
          <a:prstGeom prst="roundRect">
            <a:avLst/>
          </a:prstGeom>
          <a:solidFill>
            <a:srgbClr val="DBEAFE"/>
          </a:solidFill>
          <a:ln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3044952" y="3950208"/>
            <a:ext cx="1481328" cy="4114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300">
                <a:solidFill>
                  <a:srgbClr val="0F172A"/>
                </a:solidFill>
                <a:latin typeface="Microsoft YaHei"/>
              </a:rPr>
              <a:t>ISO-TC204 Primer；ETSI TS 103 759；Chen et al. 2023</a:t>
            </a:r>
          </a:p>
        </p:txBody>
      </p:sp>
      <p:sp>
        <p:nvSpPr>
          <p:cNvPr id="33" name="Rounded Rectangle 32"/>
          <p:cNvSpPr/>
          <p:nvPr/>
        </p:nvSpPr>
        <p:spPr>
          <a:xfrm>
            <a:off x="4617720" y="3904488"/>
            <a:ext cx="6812280" cy="576072"/>
          </a:xfrm>
          <a:prstGeom prst="roundRect">
            <a:avLst/>
          </a:prstGeom>
          <a:solidFill>
            <a:srgbClr val="DBEAFE"/>
          </a:solidFill>
          <a:ln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4690872" y="3950208"/>
            <a:ext cx="6693408" cy="4114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100">
                <a:solidFill>
                  <a:srgbClr val="475569"/>
                </a:solidFill>
                <a:latin typeface="Microsoft YaHei"/>
              </a:rPr>
              <a:t>把 CRL/CTL、误行为报告、实现性能串起来</a:t>
            </a:r>
          </a:p>
        </p:txBody>
      </p:sp>
      <p:sp>
        <p:nvSpPr>
          <p:cNvPr id="35" name="Rounded Rectangle 34"/>
          <p:cNvSpPr/>
          <p:nvPr/>
        </p:nvSpPr>
        <p:spPr>
          <a:xfrm>
            <a:off x="594360" y="4526280"/>
            <a:ext cx="2331720" cy="576072"/>
          </a:xfrm>
          <a:prstGeom prst="roundRect">
            <a:avLst/>
          </a:prstGeom>
          <a:solidFill>
            <a:srgbClr val="FFFFFF"/>
          </a:solidFill>
          <a:ln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TextBox 35"/>
          <p:cNvSpPr txBox="1"/>
          <p:nvPr/>
        </p:nvSpPr>
        <p:spPr>
          <a:xfrm>
            <a:off x="667512" y="4572000"/>
            <a:ext cx="2212848" cy="4114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300">
                <a:solidFill>
                  <a:srgbClr val="0F172A"/>
                </a:solidFill>
                <a:latin typeface="Microsoft YaHei"/>
              </a:rPr>
              <a:t>事后追责怎么做？</a:t>
            </a:r>
          </a:p>
        </p:txBody>
      </p:sp>
      <p:sp>
        <p:nvSpPr>
          <p:cNvPr id="37" name="Rounded Rectangle 36"/>
          <p:cNvSpPr/>
          <p:nvPr/>
        </p:nvSpPr>
        <p:spPr>
          <a:xfrm>
            <a:off x="2971800" y="4526280"/>
            <a:ext cx="1600200" cy="576072"/>
          </a:xfrm>
          <a:prstGeom prst="roundRect">
            <a:avLst/>
          </a:prstGeom>
          <a:solidFill>
            <a:srgbClr val="FFFFFF"/>
          </a:solidFill>
          <a:ln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TextBox 37"/>
          <p:cNvSpPr txBox="1"/>
          <p:nvPr/>
        </p:nvSpPr>
        <p:spPr>
          <a:xfrm>
            <a:off x="3044952" y="4572000"/>
            <a:ext cx="1481328" cy="4114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300">
                <a:solidFill>
                  <a:srgbClr val="0F172A"/>
                </a:solidFill>
                <a:latin typeface="Microsoft YaHei"/>
              </a:rPr>
              <a:t>OpenSCMS LA；Brecht et al. 2018；ISO-TC204 Primer</a:t>
            </a:r>
          </a:p>
        </p:txBody>
      </p:sp>
      <p:sp>
        <p:nvSpPr>
          <p:cNvPr id="39" name="Rounded Rectangle 38"/>
          <p:cNvSpPr/>
          <p:nvPr/>
        </p:nvSpPr>
        <p:spPr>
          <a:xfrm>
            <a:off x="4617720" y="4526280"/>
            <a:ext cx="6812280" cy="576072"/>
          </a:xfrm>
          <a:prstGeom prst="roundRect">
            <a:avLst/>
          </a:prstGeom>
          <a:solidFill>
            <a:srgbClr val="FFFFFF"/>
          </a:solidFill>
          <a:ln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TextBox 39"/>
          <p:cNvSpPr txBox="1"/>
          <p:nvPr/>
        </p:nvSpPr>
        <p:spPr>
          <a:xfrm>
            <a:off x="4690872" y="4572000"/>
            <a:ext cx="6693408" cy="4114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100">
                <a:solidFill>
                  <a:srgbClr val="475569"/>
                </a:solidFill>
                <a:latin typeface="Microsoft YaHei"/>
              </a:rPr>
              <a:t>解释条件开链、linkage values、多机构协作</a:t>
            </a:r>
          </a:p>
        </p:txBody>
      </p:sp>
      <p:sp>
        <p:nvSpPr>
          <p:cNvPr id="41" name="Rounded Rectangle 40"/>
          <p:cNvSpPr/>
          <p:nvPr/>
        </p:nvSpPr>
        <p:spPr>
          <a:xfrm>
            <a:off x="594360" y="5148072"/>
            <a:ext cx="2331720" cy="576072"/>
          </a:xfrm>
          <a:prstGeom prst="roundRect">
            <a:avLst/>
          </a:prstGeom>
          <a:solidFill>
            <a:srgbClr val="DBEAFE"/>
          </a:solidFill>
          <a:ln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" name="TextBox 41"/>
          <p:cNvSpPr txBox="1"/>
          <p:nvPr/>
        </p:nvSpPr>
        <p:spPr>
          <a:xfrm>
            <a:off x="667512" y="5193792"/>
            <a:ext cx="2212848" cy="4114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300">
                <a:solidFill>
                  <a:srgbClr val="0F172A"/>
                </a:solidFill>
                <a:latin typeface="Microsoft YaHei"/>
              </a:rPr>
              <a:t>弱硬件能不能扛住？</a:t>
            </a:r>
          </a:p>
        </p:txBody>
      </p:sp>
      <p:sp>
        <p:nvSpPr>
          <p:cNvPr id="43" name="Rounded Rectangle 42"/>
          <p:cNvSpPr/>
          <p:nvPr/>
        </p:nvSpPr>
        <p:spPr>
          <a:xfrm>
            <a:off x="2971800" y="5148072"/>
            <a:ext cx="1600200" cy="576072"/>
          </a:xfrm>
          <a:prstGeom prst="roundRect">
            <a:avLst/>
          </a:prstGeom>
          <a:solidFill>
            <a:srgbClr val="DBEAFE"/>
          </a:solidFill>
          <a:ln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" name="TextBox 43"/>
          <p:cNvSpPr txBox="1"/>
          <p:nvPr/>
        </p:nvSpPr>
        <p:spPr>
          <a:xfrm>
            <a:off x="3044952" y="5193792"/>
            <a:ext cx="1481328" cy="4114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300">
                <a:solidFill>
                  <a:srgbClr val="0F172A"/>
                </a:solidFill>
                <a:latin typeface="Microsoft YaHei"/>
              </a:rPr>
              <a:t>FITSec；Amjad et al. 2018；Chen et al. 2023</a:t>
            </a:r>
          </a:p>
        </p:txBody>
      </p:sp>
      <p:sp>
        <p:nvSpPr>
          <p:cNvPr id="45" name="Rounded Rectangle 44"/>
          <p:cNvSpPr/>
          <p:nvPr/>
        </p:nvSpPr>
        <p:spPr>
          <a:xfrm>
            <a:off x="4617720" y="5148072"/>
            <a:ext cx="6812280" cy="576072"/>
          </a:xfrm>
          <a:prstGeom prst="roundRect">
            <a:avLst/>
          </a:prstGeom>
          <a:solidFill>
            <a:srgbClr val="DBEAFE"/>
          </a:solidFill>
          <a:ln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6" name="TextBox 45"/>
          <p:cNvSpPr txBox="1"/>
          <p:nvPr/>
        </p:nvSpPr>
        <p:spPr>
          <a:xfrm>
            <a:off x="4690872" y="5193792"/>
            <a:ext cx="6693408" cy="4114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100">
                <a:solidFill>
                  <a:srgbClr val="475569"/>
                </a:solidFill>
                <a:latin typeface="Microsoft YaHei"/>
              </a:rPr>
              <a:t>一边看资源约束，一边看性能与时延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685800" y="5486400"/>
            <a:ext cx="10972800" cy="5029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600" b="1">
                <a:solidFill>
                  <a:srgbClr val="2563EB"/>
                </a:solidFill>
                <a:latin typeface="Microsoft YaHei"/>
              </a:rPr>
              <a:t>#### 1) 架构与信任根 #### 2) 撤销与分发 #### 3) 隐私保护与事后追责 #### 4) 实时性与弱硬件可行性 一句话建议：如果你接下来要写开题或汇报，最稳的方式不是先“发明一个新密码学方案”，而是先把 标准 → SCMS 架构 → 撤销传播 → 条件追责 → 性能约束 这条文献链讲顺。</a:t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594360" y="6236208"/>
            <a:ext cx="10972800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900">
                <a:solidFill>
                  <a:srgbClr val="64748B"/>
                </a:solidFill>
                <a:latin typeface="Microsoft YaHei"/>
              </a:rPr>
              <a:t>参考：[R10][R11][R12][R13][R1][R2][R5][R7][R8][R9]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8FA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640080"/>
          </a:xfrm>
          <a:prstGeom prst="rect">
            <a:avLst/>
          </a:prstGeom>
          <a:solidFill>
            <a:srgbClr val="0F172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109728"/>
            <a:ext cx="109728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2400" b="1">
                <a:solidFill>
                  <a:srgbClr val="FFFFFF"/>
                </a:solidFill>
                <a:latin typeface="Microsoft YaHei"/>
              </a:rPr>
              <a:t>13. 参考资料（可直接放到答辩/PPT 最后一页）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85800" y="1234440"/>
            <a:ext cx="10972800" cy="484632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>
              <a:spcBef>
                <a:spcPts val="100"/>
              </a:spcBef>
              <a:spcAft>
                <a:spcPts val="400"/>
              </a:spcAft>
            </a:pPr>
            <a:r>
              <a:rPr sz="1600">
                <a:solidFill>
                  <a:srgbClr val="0F172A"/>
                </a:solidFill>
                <a:latin typeface="Microsoft YaHei"/>
              </a:rPr>
              <a:t>[R1] ISO-TC204, Primer on ITS Cryptography</a:t>
            </a:r>
          </a:p>
          <a:p>
            <a:pPr>
              <a:spcBef>
                <a:spcPts val="100"/>
              </a:spcBef>
              <a:spcAft>
                <a:spcPts val="400"/>
              </a:spcAft>
            </a:pPr>
            <a:r>
              <a:rPr sz="1600">
                <a:solidFill>
                  <a:srgbClr val="0F172A"/>
                </a:solidFill>
                <a:latin typeface="Microsoft YaHei"/>
              </a:rPr>
              <a:t>https://github.com/ISO-TC204/ISO-TC204.github.io/blob/321cebfae1b4ce78b8ea282c5468ffe1acd9dd9a/docs/cybersecurity/primer-its-credentials.md</a:t>
            </a:r>
          </a:p>
          <a:p>
            <a:pPr>
              <a:spcBef>
                <a:spcPts val="100"/>
              </a:spcBef>
              <a:spcAft>
                <a:spcPts val="400"/>
              </a:spcAft>
            </a:pPr>
            <a:r>
              <a:rPr sz="1600">
                <a:solidFill>
                  <a:srgbClr val="0F172A"/>
                </a:solidFill>
                <a:latin typeface="Microsoft YaHei"/>
              </a:rPr>
              <a:t>[R2] fillabs, FITSec - The ITS Security implementation</a:t>
            </a:r>
          </a:p>
          <a:p>
            <a:pPr>
              <a:spcBef>
                <a:spcPts val="100"/>
              </a:spcBef>
              <a:spcAft>
                <a:spcPts val="400"/>
              </a:spcAft>
            </a:pPr>
            <a:r>
              <a:rPr sz="1600">
                <a:solidFill>
                  <a:srgbClr val="0F172A"/>
                </a:solidFill>
                <a:latin typeface="Microsoft YaHei"/>
              </a:rPr>
              <a:t>https://github.com/fillabs/fitsec2-rel/blob/122534e463de43f0141f9f857b0532f823d7b993/README.md</a:t>
            </a:r>
          </a:p>
          <a:p>
            <a:pPr>
              <a:spcBef>
                <a:spcPts val="100"/>
              </a:spcBef>
              <a:spcAft>
                <a:spcPts val="400"/>
              </a:spcAft>
            </a:pPr>
            <a:r>
              <a:rPr sz="1600">
                <a:solidFill>
                  <a:srgbClr val="0F172A"/>
                </a:solidFill>
                <a:latin typeface="Microsoft YaHei"/>
              </a:rPr>
              <a:t>[R3] michelm, v2x-its-pki</a:t>
            </a:r>
          </a:p>
          <a:p>
            <a:pPr>
              <a:spcBef>
                <a:spcPts val="100"/>
              </a:spcBef>
              <a:spcAft>
                <a:spcPts val="400"/>
              </a:spcAft>
            </a:pPr>
            <a:r>
              <a:rPr sz="1600">
                <a:solidFill>
                  <a:srgbClr val="0F172A"/>
                </a:solidFill>
                <a:latin typeface="Microsoft YaHei"/>
              </a:rPr>
              <a:t>https://github.com/michelm/v2x-its-pki/blob/662d69a11c831a5dad879443a41211af8a9a6bc9/README.md</a:t>
            </a:r>
          </a:p>
          <a:p>
            <a:pPr>
              <a:spcBef>
                <a:spcPts val="100"/>
              </a:spcBef>
              <a:spcAft>
                <a:spcPts val="400"/>
              </a:spcAft>
            </a:pPr>
            <a:r>
              <a:rPr sz="1600">
                <a:solidFill>
                  <a:srgbClr val="0F172A"/>
                </a:solidFill>
                <a:latin typeface="Microsoft YaHei"/>
              </a:rPr>
              <a:t>[R4] TeskaLabs, C-ITS ITS-S Reference Implementation</a:t>
            </a:r>
          </a:p>
          <a:p>
            <a:pPr>
              <a:spcBef>
                <a:spcPts val="100"/>
              </a:spcBef>
              <a:spcAft>
                <a:spcPts val="400"/>
              </a:spcAft>
            </a:pPr>
            <a:r>
              <a:rPr sz="1600">
                <a:solidFill>
                  <a:srgbClr val="0F172A"/>
                </a:solidFill>
                <a:latin typeface="Microsoft YaHei"/>
              </a:rPr>
              <a:t>https://github.com/TeskaLabs/c-its-itss/blob/43bb74bfcc762810e656ef92c030a6783e18571a/README.md</a:t>
            </a:r>
          </a:p>
          <a:p>
            <a:pPr>
              <a:spcBef>
                <a:spcPts val="100"/>
              </a:spcBef>
              <a:spcAft>
                <a:spcPts val="400"/>
              </a:spcAft>
            </a:pPr>
            <a:r>
              <a:rPr sz="1600">
                <a:solidFill>
                  <a:srgbClr val="0F172A"/>
                </a:solidFill>
                <a:latin typeface="Microsoft YaHei"/>
              </a:rPr>
              <a:t>[R5] OpenSCMS, Linkage Authority</a:t>
            </a:r>
          </a:p>
          <a:p>
            <a:pPr>
              <a:spcBef>
                <a:spcPts val="100"/>
              </a:spcBef>
              <a:spcAft>
                <a:spcPts val="400"/>
              </a:spcAft>
            </a:pPr>
            <a:r>
              <a:rPr sz="1600">
                <a:solidFill>
                  <a:srgbClr val="0F172A"/>
                </a:solidFill>
                <a:latin typeface="Microsoft YaHei"/>
              </a:rPr>
              <a:t>https://github.com/OpenSCMS/openscms.github.io/blob/690ff261531d1df06361e03c0b30428a809598f8/pages/docs/components/la.html</a:t>
            </a:r>
          </a:p>
          <a:p>
            <a:pPr>
              <a:spcBef>
                <a:spcPts val="100"/>
              </a:spcBef>
              <a:spcAft>
                <a:spcPts val="400"/>
              </a:spcAft>
            </a:pPr>
            <a:r>
              <a:rPr sz="1600">
                <a:solidFill>
                  <a:srgbClr val="0F172A"/>
                </a:solidFill>
                <a:latin typeface="Microsoft YaHei"/>
              </a:rPr>
              <a:t>[R6] ISO-TC204, ITS Security Regulations, Frameworks, Standards and Guidance Documents</a:t>
            </a:r>
          </a:p>
          <a:p>
            <a:pPr>
              <a:spcBef>
                <a:spcPts val="100"/>
              </a:spcBef>
              <a:spcAft>
                <a:spcPts val="400"/>
              </a:spcAft>
            </a:pPr>
            <a:r>
              <a:rPr sz="1600">
                <a:solidFill>
                  <a:srgbClr val="0F172A"/>
                </a:solidFill>
                <a:latin typeface="Microsoft YaHei"/>
              </a:rPr>
              <a:t>https://github.com/ISO-TC204/ISO-TC204.github.io/blob/321cebfae1b4ce78b8ea282c5468ffe1acd9dd9a/docs/cybersecurity/its-security-standards.md</a:t>
            </a:r>
          </a:p>
          <a:p>
            <a:pPr>
              <a:spcBef>
                <a:spcPts val="100"/>
              </a:spcBef>
              <a:spcAft>
                <a:spcPts val="400"/>
              </a:spcAft>
            </a:pPr>
            <a:r>
              <a:rPr sz="1600">
                <a:solidFill>
                  <a:srgbClr val="0F172A"/>
                </a:solidFill>
                <a:latin typeface="Microsoft YaHei"/>
              </a:rPr>
              <a:t>[R7] IEEE, IEEE 1609.2-2022（标准主页链接见 R2）</a:t>
            </a:r>
          </a:p>
          <a:p>
            <a:pPr>
              <a:spcBef>
                <a:spcPts val="100"/>
              </a:spcBef>
              <a:spcAft>
                <a:spcPts val="400"/>
              </a:spcAft>
            </a:pPr>
            <a:r>
              <a:rPr sz="1600">
                <a:solidFill>
                  <a:srgbClr val="0F172A"/>
                </a:solidFill>
                <a:latin typeface="Microsoft YaHei"/>
              </a:rPr>
              <a:t>[R8] ETSI, TS 103 097 / TS 102 941 / TS 103 759（标准下载链接见 R2 / R3）</a:t>
            </a:r>
          </a:p>
          <a:p>
            <a:pPr>
              <a:spcBef>
                <a:spcPts val="100"/>
              </a:spcBef>
              <a:spcAft>
                <a:spcPts val="400"/>
              </a:spcAft>
            </a:pPr>
            <a:r>
              <a:rPr sz="1600">
                <a:solidFill>
                  <a:srgbClr val="0F172A"/>
                </a:solidFill>
                <a:latin typeface="Microsoft YaHei"/>
              </a:rPr>
              <a:t>[R9] B. Brecht et al., A Security Credential Management System for V2X Communications, IEEE Transactions on Intelligent Transportation Systems, 2018（引文与入口见 R13）</a:t>
            </a:r>
          </a:p>
          <a:p>
            <a:pPr>
              <a:spcBef>
                <a:spcPts val="100"/>
              </a:spcBef>
              <a:spcAft>
                <a:spcPts val="400"/>
              </a:spcAft>
            </a:pPr>
            <a:r>
              <a:rPr sz="1600">
                <a:solidFill>
                  <a:srgbClr val="0F172A"/>
                </a:solidFill>
                <a:latin typeface="Microsoft YaHei"/>
              </a:rPr>
              <a:t>[R10] Z. Amjad et al., Low Latency V2X Applications and Network Requirements: Performance Evaluation, IEEE Intelligent Vehicles Symposium, 2018（引文与入口见 R13）</a:t>
            </a:r>
          </a:p>
          <a:p>
            <a:pPr>
              <a:spcBef>
                <a:spcPts val="100"/>
              </a:spcBef>
              <a:spcAft>
                <a:spcPts val="400"/>
              </a:spcAft>
            </a:pPr>
            <a:r>
              <a:rPr sz="1600">
                <a:solidFill>
                  <a:srgbClr val="0F172A"/>
                </a:solidFill>
                <a:latin typeface="Microsoft YaHei"/>
              </a:rPr>
              <a:t>[R11] A. C. H. Chen et al., Implementation and Performance Analysis of Security Credential Management System Based on IEEE 1609.2 and 1609.2.1 Standards, IEEE ICMLANT, 2023（引文与入口见 R13）</a:t>
            </a:r>
          </a:p>
          <a:p>
            <a:pPr>
              <a:spcBef>
                <a:spcPts val="100"/>
              </a:spcBef>
              <a:spcAft>
                <a:spcPts val="400"/>
              </a:spcAft>
            </a:pPr>
            <a:r>
              <a:rPr sz="1600">
                <a:solidFill>
                  <a:srgbClr val="0F172A"/>
                </a:solidFill>
                <a:latin typeface="Microsoft YaHei"/>
              </a:rPr>
              <a:t>[R12] Mattyilmago, SecureRoads_PKI README</a:t>
            </a:r>
          </a:p>
          <a:p>
            <a:pPr>
              <a:spcBef>
                <a:spcPts val="100"/>
              </a:spcBef>
              <a:spcAft>
                <a:spcPts val="400"/>
              </a:spcAft>
            </a:pPr>
            <a:r>
              <a:rPr sz="1600">
                <a:solidFill>
                  <a:srgbClr val="0F172A"/>
                </a:solidFill>
                <a:latin typeface="Microsoft YaHei"/>
              </a:rPr>
              <a:t>https://github.com/Mattyilmago/SecureRoads_PKI/blob/e2dd5b533cbfdbde5a0723d8b54b3d22d600fa49/README.md</a:t>
            </a:r>
          </a:p>
          <a:p>
            <a:pPr>
              <a:spcBef>
                <a:spcPts val="100"/>
              </a:spcBef>
              <a:spcAft>
                <a:spcPts val="400"/>
              </a:spcAft>
            </a:pPr>
            <a:r>
              <a:rPr sz="1600">
                <a:solidFill>
                  <a:srgbClr val="0F172A"/>
                </a:solidFill>
                <a:latin typeface="Microsoft YaHei"/>
              </a:rPr>
              <a:t>[R13] Jelloge, Evaluating Cloud-Hosted SCMS Performance for C-V2X Using a QNX RTOS Client</a:t>
            </a:r>
          </a:p>
          <a:p>
            <a:pPr>
              <a:spcBef>
                <a:spcPts val="100"/>
              </a:spcBef>
              <a:spcAft>
                <a:spcPts val="400"/>
              </a:spcAft>
            </a:pPr>
            <a:r>
              <a:rPr sz="1600">
                <a:solidFill>
                  <a:srgbClr val="0F172A"/>
                </a:solidFill>
                <a:latin typeface="Microsoft YaHei"/>
              </a:rPr>
              <a:t>https://github.com/Jelloge/scms-v2x-cloud/blob/3190ea8bf309dfa9d76bc1382fc50414c963f638/README.md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94360" y="6236208"/>
            <a:ext cx="10972800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900">
                <a:solidFill>
                  <a:srgbClr val="64748B"/>
                </a:solidFill>
                <a:latin typeface="Microsoft YaHei"/>
              </a:rPr>
              <a:t>参考：[R10][R11][R12][R13][R1][R2][R3][R4][R5][R6][R7][R8][R9]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