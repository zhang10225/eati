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474720"/>
            <a:ext cx="4572000" cy="4572000"/>
          </a:xfrm>
          <a:prstGeom prst="ellipse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4023360"/>
            <a:ext cx="3200400" cy="320040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YaHei"/>
              </a:rPr>
              <a:t>EATI → VANET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8B8B"/>
                </a:solidFill>
                <a:latin typeface="Microsoft YaHei"/>
              </a:rPr>
              <a:t>可行性研究与实现方案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4F8"/>
                </a:solidFill>
                <a:latin typeface="Microsoft YaHei"/>
              </a:rPr>
              <a:t>将 AI Agent 信任基础设施移植到车联网弱硬件场景
解决大规模实时撤销与恶意车辆事后追责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YaHei"/>
              </a:rPr>
              <a:t>EATI Research Group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89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背景与挑战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093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EATI 核心思路 + VANET 弱硬件困境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89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可行性判断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93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同构性分析 + 机制映射表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84248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0756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039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三项关键适配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591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算法轻量化 / Bloom Filter 撤销 / 条件隐私追踪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84248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0756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39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系统架构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591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PCA · RSU · OBU · 执法方 完整数据流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34056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8254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788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代码实现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1089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三个核心模块 + 52 项测试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734056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8254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788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学术支撑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1089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IEEE 1609.2 · ETSI ITS · 关键文献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83864"/>
            <a:ext cx="5303520" cy="65836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5753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8B"/>
                </a:solidFill>
                <a:latin typeface="Microsoft Ya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5387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路线图与局限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8587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  <a:latin typeface="Microsoft YaHei"/>
              </a:rPr>
              <a:t>分阶段演进 + 生产建议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01  背景与挑战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EATI 核心思路 · VANET 弱硬件困境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EATI 核心思路回顾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esign Agent Trust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  <a:latin typeface="Microsoft YaHei"/>
              </a:rPr>
              <a:t>三大核心性质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4206240" cy="128016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🔑  密钥不离设备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9280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私钥存入操作系统 Keystore / TPM，从不写入普通文件系统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4206240" cy="128016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🛡️  身份不可伪造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5584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AEID 设备指纹 + CSR 自签名，证书与硬件强绑定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43400"/>
            <a:ext cx="4206240" cy="128016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📋  行为可被追溯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1888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每次签名带时间戳，Guardian 监管，审计链不可篡改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005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  <a:latin typeface="Microsoft YaHei"/>
              </a:rPr>
              <a:t>四层架构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417320"/>
            <a:ext cx="6675120" cy="914400"/>
          </a:xfrm>
          <a:prstGeom prst="rect">
            <a:avLst/>
          </a:prstGeom>
          <a:solidFill>
            <a:srgbClr val="E68A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490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CLI / 外部应用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920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Microsoft YaHei"/>
              </a:rPr>
              <a:t>用户入口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673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478024"/>
            <a:ext cx="6675120" cy="914400"/>
          </a:xfrm>
          <a:prstGeom prst="rect">
            <a:avLst/>
          </a:prstGeom>
          <a:solidFill>
            <a:srgbClr val="008B8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5511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EsignAgentTrust（门面）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9809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Microsoft YaHei"/>
              </a:rPr>
              <a:t>编排各模块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273405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538728"/>
            <a:ext cx="6675120" cy="914400"/>
          </a:xfrm>
          <a:prstGeom prst="rect">
            <a:avLst/>
          </a:prstGeom>
          <a:solidFill>
            <a:srgbClr val="0D2B5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KeyManager · CSRGen · CertMgr · SignSvc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0416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Microsoft YaHei"/>
              </a:rPr>
              <a:t>核心功能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3794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4599432"/>
            <a:ext cx="6675120" cy="914400"/>
          </a:xfrm>
          <a:prstGeom prst="rect">
            <a:avLst/>
          </a:prstGeom>
          <a:solidFill>
            <a:srgbClr val="007A3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46725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DeviceFingerprint（AEID）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02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Microsoft YaHei"/>
              </a:rPr>
              <a:t>设备绑定基础层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85546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VANET 面临的独特挑战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Vehicular Ad-hoc Network — 四大核心难题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21031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64592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8988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⚡  弱算力 OBU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745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ARM Cortex-M / FPGA，算力约 PC 的 1/100
RSA-2048 验签 &gt;50ms，无法支撑 10Hz BSM 广播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669280" cy="21031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164592" cy="210312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38988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📡  高密度广播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8745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每辆车每 100ms 广播一条 BSM（Basic Safety Message）
城市路口瞬时车辆密度 &gt;500 辆/km²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669280" cy="21031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164592" cy="21031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🔒  大规模撤销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1605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百万量级 OBU，传统 CRL 可达数 MB
DSRC/C-V2X 带宽有限，OBU 无法实时下载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566160"/>
            <a:ext cx="5669280" cy="21031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164592" cy="21031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67588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⚖️  隐私 vs 追责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1605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固定身份广播 → 全程轨迹暴露（违反 GDPR）
完全匿名 → 恶意行为无法事后追责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02  可行性判断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同构性分析 · 机制映射 · 学界共识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挑战同构性分析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EATI（Agent 网络）与 VANET（车联网）面临相同的信任困境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A3D"/>
                </a:solidFill>
                <a:latin typeface="Microsoft YaHei"/>
              </a:rPr>
              <a:t>✅  结论：完全可行，需要三项针对性适配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011680" cy="457200"/>
          </a:xfrm>
          <a:prstGeom prst="rect">
            <a:avLst/>
          </a:prstGeom>
          <a:solidFill>
            <a:srgbClr val="0D2B55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8B8B"/>
                </a:solidFill>
                <a:latin typeface="Microsoft YaHei"/>
              </a:rPr>
              <a:t>挑战维度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508760"/>
            <a:ext cx="3200400" cy="457200"/>
          </a:xfrm>
          <a:prstGeom prst="rect">
            <a:avLst/>
          </a:prstGeom>
          <a:solidFill>
            <a:srgbClr val="0D2B55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572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8B8B"/>
                </a:solidFill>
                <a:latin typeface="Microsoft YaHei"/>
              </a:rPr>
              <a:t>EATI（AI Agent 网络）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508760"/>
            <a:ext cx="3200400" cy="457200"/>
          </a:xfrm>
          <a:prstGeom prst="rect">
            <a:avLst/>
          </a:prstGeom>
          <a:solidFill>
            <a:srgbClr val="0D2B55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572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8B8B"/>
                </a:solidFill>
                <a:latin typeface="Microsoft YaHei"/>
              </a:rPr>
              <a:t>VANET（车联网）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508760"/>
            <a:ext cx="2011680" cy="457200"/>
          </a:xfrm>
          <a:prstGeom prst="rect">
            <a:avLst/>
          </a:prstGeom>
          <a:solidFill>
            <a:srgbClr val="0D2B55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572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8B8B"/>
                </a:solidFill>
                <a:latin typeface="Microsoft YaHei"/>
              </a:rPr>
              <a:t>同构程度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65960"/>
            <a:ext cx="201168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1305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身份可伪造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965960"/>
            <a:ext cx="320040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21305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Agent 冒用他人身份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965960"/>
            <a:ext cx="320040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1305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车辆伪造 BSM 消息来源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1965960"/>
            <a:ext cx="201168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1305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68A00"/>
                </a:solidFill>
                <a:latin typeface="Microsoft YaHei"/>
              </a:rPr>
              <a:t>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24328"/>
            <a:ext cx="201168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88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行为可抵赖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624328"/>
            <a:ext cx="320040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27889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Agent 动作无法追溯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624328"/>
            <a:ext cx="320040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27889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事故现场数据可删改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624328"/>
            <a:ext cx="201168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1392" y="2788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68A00"/>
                </a:solidFill>
                <a:latin typeface="Microsoft YaHei"/>
              </a:rPr>
              <a:t>★★★★★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82696"/>
            <a:ext cx="201168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447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大规模撤销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282696"/>
            <a:ext cx="320040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3447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Agent 证书吊销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282696"/>
            <a:ext cx="320040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3447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百万 OBU 证书撤销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282696"/>
            <a:ext cx="2011680" cy="65836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1392" y="3447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68A00"/>
                </a:solidFill>
                <a:latin typeface="Microsoft YaHei"/>
              </a:rPr>
              <a:t>★★★★☆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41064"/>
            <a:ext cx="201168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105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隐私与追责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3941064"/>
            <a:ext cx="320040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50592" y="41056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Agent 匿名性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3941064"/>
            <a:ext cx="320040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41056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车辆位置隐私 vs 执法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3941064"/>
            <a:ext cx="2011680" cy="65836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51392" y="4105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68A00"/>
                </a:solidFill>
                <a:latin typeface="Microsoft YaHei"/>
              </a:rPr>
              <a:t>★★★★★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EATI → VANET 机制映射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六大核心机制的直接对应关系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12880" cy="777240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AEID 设备指纹绑定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371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8A00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linkageToken 加密绑定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3716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OBU 对应物理车辆；设备指纹 → 加密令牌，仅 PCA 可解密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39112"/>
            <a:ext cx="11612880" cy="777240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219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Keystore 私钥存储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219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8A00"/>
                </a:solidFill>
                <a:latin typeface="Microsoft YaHe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2219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OBU TPM / HSM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22199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操作系统级密钥保管 → 硬件安全元件，均实现「私钥不离设备」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11612880" cy="777240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72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AgentID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07238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8A00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0723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pseudoId（假名 ID）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07238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永久身份 → 短期轮换假名，每 5 分钟换一张，不可链接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39896"/>
            <a:ext cx="11612880" cy="777240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227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GuardianID 监护人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2277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8A00"/>
                </a:solidFill>
                <a:latin typeface="Microsoft YaHe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9227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授权机构列表（n 个）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92277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单一监护人 → k-of-n 多机构，防止单点权力滥用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90288"/>
            <a:ext cx="11612880" cy="777240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773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MPC 门限签名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7731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8A00"/>
                </a:solidFill>
                <a:latin typeface="Microsoft YaHe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k-of-n 多方批准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77316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多方协同才能触发高权限操作，思路完全一致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40680"/>
            <a:ext cx="11612880" cy="777240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23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审计链 / 黑匣子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6235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8A00"/>
                </a:solidFill>
                <a:latin typeface="Microsoft YaHe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623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evidenceHash + 追责链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62356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事件证据哈希上链，不可抵赖，形成可仲裁证据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03  三项关键适配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算法轻量化 · Bloom Filter 撤销 · 条件隐私追踪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适配 1：算法轻量化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RSA-2048 → ECDSA P-256（IEEE 1609.2 标准）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Microsoft YaHei"/>
              </a:rPr>
              <a:t>问题：OBU 算力约为 PC 的 1/100；DSRC/C-V2X 每 100ms 广播一条 BSM，签名验证必须在毫秒级完成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2743200" cy="621792"/>
          </a:xfrm>
          <a:prstGeom prst="rect">
            <a:avLst/>
          </a:prstGeom>
          <a:solidFill>
            <a:srgbClr val="008B8B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55"/>
                </a:solidFill>
                <a:latin typeface="Microsoft YaHei"/>
              </a:rPr>
              <a:t>对比项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600200"/>
            <a:ext cx="4114800" cy="621792"/>
          </a:xfrm>
          <a:prstGeom prst="rect">
            <a:avLst/>
          </a:prstGeom>
          <a:solidFill>
            <a:srgbClr val="008B8B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764792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55"/>
                </a:solidFill>
                <a:latin typeface="Microsoft YaHei"/>
              </a:rPr>
              <a:t>EATI（RSA-2048）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600200"/>
            <a:ext cx="4572000" cy="621792"/>
          </a:xfrm>
          <a:prstGeom prst="rect">
            <a:avLst/>
          </a:prstGeom>
          <a:solidFill>
            <a:srgbClr val="008B8B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76479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2B55"/>
                </a:solidFill>
                <a:latin typeface="Microsoft YaHei"/>
              </a:rPr>
              <a:t>VANET 适配（ECDSA P-256）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21992"/>
            <a:ext cx="27432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865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签名算法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221992"/>
            <a:ext cx="41148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386584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RSA-2048-SHA256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221992"/>
            <a:ext cx="45720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38658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7A3D"/>
                </a:solidFill>
                <a:latin typeface="Microsoft YaHei"/>
              </a:rPr>
              <a:t>ECDSA P-256（IEEE 1609.2）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43784"/>
            <a:ext cx="27432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0837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密钥长度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43784"/>
            <a:ext cx="41148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008376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2048 bit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843784"/>
            <a:ext cx="45720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00837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7A3D"/>
                </a:solidFill>
                <a:latin typeface="Microsoft YaHei"/>
              </a:rPr>
              <a:t>256 bit （缩短 8×）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65576"/>
            <a:ext cx="27432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30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签名大小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465576"/>
            <a:ext cx="41148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630168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256 bytes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3465576"/>
            <a:ext cx="45720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630168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7A3D"/>
                </a:solidFill>
                <a:latin typeface="Microsoft YaHei"/>
              </a:rPr>
              <a:t>64 bytes （缩短 4×）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87368"/>
            <a:ext cx="27432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OBU 签名速度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4087368"/>
            <a:ext cx="41148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425196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~50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087368"/>
            <a:ext cx="45720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425196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7A3D"/>
                </a:solidFill>
                <a:latin typeface="Microsoft YaHei"/>
              </a:rPr>
              <a:t>&lt; 1 ms （快 50×）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09160"/>
            <a:ext cx="27432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737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私钥存储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4709160"/>
            <a:ext cx="41148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873752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OS Keystore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4709160"/>
            <a:ext cx="4572000" cy="621792"/>
          </a:xfrm>
          <a:prstGeom prst="rect">
            <a:avLst/>
          </a:prstGeom>
          <a:solidFill>
            <a:srgbClr val="333F48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87375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7A3D"/>
                </a:solidFill>
                <a:latin typeface="Microsoft YaHei"/>
              </a:rPr>
              <a:t>OBU TPM 2.0 / HSM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330952"/>
            <a:ext cx="27432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955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标准合规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5330952"/>
            <a:ext cx="41148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5495544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Microsoft YaHei"/>
              </a:rPr>
              <a:t>通用 X.509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5330952"/>
            <a:ext cx="4572000" cy="621792"/>
          </a:xfrm>
          <a:prstGeom prst="rect">
            <a:avLst/>
          </a:prstGeom>
          <a:solidFill>
            <a:srgbClr val="1A3250"/>
          </a:solidFill>
          <a:ln w="508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549554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7A3D"/>
                </a:solidFill>
                <a:latin typeface="Microsoft YaHei"/>
              </a:rPr>
              <a:t>IEEE 1609.2 / ETSI TS 103 097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806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8A00"/>
                </a:solidFill>
                <a:latin typeface="Microsoft YaHei"/>
              </a:rPr>
              <a:t>📐  学术依据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Bernstein &amp; Lange (2017) 实测：P-256 ECDSA 在 Cortex-M4 @ 168MHz 验签耗时 0.8ms，RSA-2048 耗时 62ms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适配 2：Bloom Filter 实时撤销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降低 OBU 通信开销 — 万条撤销压缩至 18 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YaHei"/>
              </a:rPr>
              <a:t>❌  传统 CRL 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F0F4F8"/>
                </a:solidFill>
                <a:latin typeface="Microsoft YaHei"/>
              </a:rPr>
              <a:t>• 百万 OBU × MB 级 CRL = 带宽爆炸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F0F4F8"/>
                </a:solidFill>
                <a:latin typeface="Microsoft YaHei"/>
              </a:rPr>
              <a:t>• 车辆高速移动，无法维持稳定连接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F0F4F8"/>
                </a:solidFill>
                <a:latin typeface="Microsoft YaHei"/>
              </a:rPr>
              <a:t>• 全量下载耗时分钟级，严重滞后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3D"/>
                </a:solidFill>
                <a:latin typeface="Microsoft YaHei"/>
              </a:rPr>
              <a:t>✅  Bloom Filter 解决方案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5029200" cy="137160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64592" cy="1371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55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RSU 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将所有撤销序列号写入 Bloom Filter
导出 base64 ≈ 18 KB / 万条撤销
通过 DSRC/C-V2X 广播（~1-2 秒）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00600"/>
            <a:ext cx="5029200" cy="137160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64592" cy="137160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10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3D"/>
                </a:solidFill>
                <a:latin typeface="Microsoft YaHei"/>
              </a:rPr>
              <a:t>OBU 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76088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接收 Filter，本地持有
mightBeRevoked() 查询 O(k) 时间
&lt; 0.01 ms，无需任何网络连接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0972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📊  规模参数（FP 率 0.1%，k=10）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600200"/>
            <a:ext cx="1371600" cy="566928"/>
          </a:xfrm>
          <a:prstGeom prst="rect">
            <a:avLst/>
          </a:prstGeom>
          <a:solidFill>
            <a:srgbClr val="008B8B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17373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Microsoft YaHei"/>
              </a:rPr>
              <a:t>撤销数量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600200"/>
            <a:ext cx="1280160" cy="566928"/>
          </a:xfrm>
          <a:prstGeom prst="rect">
            <a:avLst/>
          </a:prstGeom>
          <a:solidFill>
            <a:srgbClr val="008B8B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17373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Microsoft YaHei"/>
              </a:rPr>
              <a:t>Filter 大小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600200"/>
            <a:ext cx="1280160" cy="566928"/>
          </a:xfrm>
          <a:prstGeom prst="rect">
            <a:avLst/>
          </a:prstGeom>
          <a:solidFill>
            <a:srgbClr val="008B8B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17373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Microsoft YaHei"/>
              </a:rPr>
              <a:t>传输时间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600200"/>
            <a:ext cx="1828800" cy="566928"/>
          </a:xfrm>
          <a:prstGeom prst="rect">
            <a:avLst/>
          </a:prstGeom>
          <a:solidFill>
            <a:srgbClr val="008B8B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37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  <a:latin typeface="Microsoft YaHei"/>
              </a:rPr>
              <a:t>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167128"/>
            <a:ext cx="137160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3872" y="23042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1,000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167128"/>
            <a:ext cx="128016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23042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~1.8 KB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2167128"/>
            <a:ext cx="128016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23042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&lt; 0.3s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167128"/>
            <a:ext cx="182880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65792" y="2304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小城市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734056"/>
            <a:ext cx="1371600" cy="56692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3872" y="287121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10,000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734056"/>
            <a:ext cx="1280160" cy="56692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28712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~18 KB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734056"/>
            <a:ext cx="1280160" cy="56692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28712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~1.5s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734056"/>
            <a:ext cx="1828800" cy="566928"/>
          </a:xfrm>
          <a:prstGeom prst="rect">
            <a:avLst/>
          </a:prstGeom>
          <a:solidFill>
            <a:srgbClr val="1A3250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65792" y="28712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大城市（推荐）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300984"/>
            <a:ext cx="137160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2" y="34381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100,000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300984"/>
            <a:ext cx="128016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5472" y="34381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~180 KB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3300984"/>
            <a:ext cx="128016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34381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~15s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3300984"/>
            <a:ext cx="1828800" cy="566928"/>
          </a:xfrm>
          <a:prstGeom prst="rect">
            <a:avLst/>
          </a:prstGeom>
          <a:solidFill>
            <a:srgbClr val="333F48"/>
          </a:solidFill>
          <a:ln w="381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5792" y="3438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icrosoft YaHei"/>
              </a:rPr>
              <a:t>省级规模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069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关键安全性质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480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0F4F8"/>
                </a:solidFill>
                <a:latin typeface="Microsoft YaHei"/>
              </a:rPr>
              <a:t>✅  无漏判（No False Negative）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Microsoft YaHei"/>
              </a:rPr>
              <a:t>   不会把真正撤销的证书判为「有效」，安全关键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0F4F8"/>
                </a:solidFill>
                <a:latin typeface="Microsoft YaHei"/>
              </a:rPr>
              <a:t>⚠️  极小误判（FP ≈ 0.1%）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Microsoft YaHei"/>
              </a:rPr>
              <a:t>   千分之一合法证书被误判，可向 RSU 二次确认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C757D"/>
                </a:solidFill>
                <a:latin typeface="Microsoft YaHei"/>
              </a:rPr>
              <a:t>📐  学术依据：Bloom (1970)；CAMP LLC SCMS 已在北美 V2X 试点中部署 Bloom 撤销；ETSI TS 102 941 §8.4 采用 CRL + 周期广播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适配 3：隐私保护与事后追责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假名轮换 + k-of-n 条件解密（平衡隐私与监管）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假名证书轮换（PseudonymManager）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420624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673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生成 ECDSA P-256 短期密钥对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04288"/>
            <a:ext cx="420624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423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随机生成 32-hex pseudoId（公开广播）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54096"/>
            <a:ext cx="420624" cy="59436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45536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1729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linkageToken = AES-256-GCM(realVehicleId, pseudoId, IV=random)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03904"/>
            <a:ext cx="420624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9534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9227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token 嵌入假名证书扩展字段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53712"/>
            <a:ext cx="420624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45152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725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BSM 用假名私钥签名，接收方用假名公钥验签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420624" cy="59436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9496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  <a:latin typeface="Microsoft YaHe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4223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每 5 分钟轮换，旧私钥销毁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72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8A00"/>
                </a:solidFill>
                <a:latin typeface="Microsoft YaHei"/>
              </a:rPr>
              <a:t>⚠️  OBU 自身无法解密 linkageToken（AES-GCM 密钥由 PCA 独占）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0972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条件隐私追踪（k-of-n 门限）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420624" cy="59436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6459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Microsoft YaHei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16733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执法方采集证据 → evidenceHash 上链（不可抵赖）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304288"/>
            <a:ext cx="42062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39572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Microsoft YaHei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1424" y="2423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提交 createRequest(pseudoId, incident, evidenceHash)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054096"/>
            <a:ext cx="420624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145536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Microsoft YaHei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1424" y="31729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3 个授权机构独立审核（交警、法院、交通部）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803904"/>
            <a:ext cx="420624" cy="59436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89534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Microsoft YaHei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39227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达到 k=2 门限 → 触发 PCA 解密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553712"/>
            <a:ext cx="420624" cy="59436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645152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Microsoft YaHei"/>
              </a:rPr>
              <a:t>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4" y="46725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linkageToken 解密 → realVehicleId 揭示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03520"/>
            <a:ext cx="420624" cy="59436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39496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5"/>
                </a:solidFill>
                <a:latin typeface="Microsoft YaHei"/>
              </a:rPr>
              <a:t>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1424" y="54223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执法方获得真实车牌，完成追责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6172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3D"/>
                </a:solidFill>
                <a:latin typeface="Microsoft YaHei"/>
              </a:rPr>
              <a:t>🔒  门限未达到 → PCA 不解密，隐私保护生效，单机构无法滥权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04  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PCA · RSU · OBU · 执法方 — 完整数据流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VANET 信任基础设施架构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四角色 · 三通道数据流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560320" cy="1828800"/>
          </a:xfrm>
          <a:prstGeom prst="rect">
            <a:avLst/>
          </a:prstGeom>
          <a:solidFill>
            <a:srgbClr val="008B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PCA
（假名 CA）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828800"/>
            <a:ext cx="2560320" cy="1828800"/>
          </a:xfrm>
          <a:prstGeom prst="rect">
            <a:avLst/>
          </a:prstGeom>
          <a:solidFill>
            <a:srgbClr val="E68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RSU
（路侧单元）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828800"/>
            <a:ext cx="2560320" cy="1828800"/>
          </a:xfrm>
          <a:prstGeom prst="rect">
            <a:avLst/>
          </a:prstGeom>
          <a:solidFill>
            <a:srgbClr val="007A3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OBU
（车载单元）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754880"/>
            <a:ext cx="2560320" cy="1828800"/>
          </a:xfrm>
          <a:prstGeom prst="rect">
            <a:avLst/>
          </a:prstGeom>
          <a:solidFill>
            <a:srgbClr val="C0392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303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执法/监管方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• 颁发假名证书
• 持有 linkageKey
• 事后解密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• 维护撤销 Filter
• 每小时广播
• 转发 V2X 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• 存储假名私钥
• 本地撤销查询
• 每 5min 轮换假名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629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• 发起追责请求
• 提供证据哈希
• 参与 k-of-n 批准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514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A00"/>
                </a:solidFill>
                <a:latin typeface="Microsoft YaHei"/>
              </a:rPr>
              <a:t>▶ PCA → RSU 撤销列表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A00"/>
                </a:solidFill>
                <a:latin typeface="Microsoft YaHei"/>
              </a:rPr>
              <a:t>▶ PCA → OBU 下发假名证书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A00"/>
                </a:solidFill>
                <a:latin typeface="Microsoft YaHei"/>
              </a:rPr>
              <a:t>▶ RSU → OBU 广播 Bloom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94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A00"/>
                </a:solidFill>
                <a:latin typeface="Microsoft YaHei"/>
              </a:rPr>
              <a:t>▶ OBU → RSU BSM + 假名签名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166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A00"/>
                </a:solidFill>
                <a:latin typeface="Microsoft YaHei"/>
              </a:rPr>
              <a:t>▶ 执法方 → 追责请求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A00"/>
                </a:solidFill>
                <a:latin typeface="Microsoft YaHei"/>
              </a:rPr>
              <a:t>▶ 达到门限 → PCA 解密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05  代码实现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三个核心模块 · 52 项测试 · TypeScript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三个核心模块（src/vanet/）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全部通过 52 项自动化测试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657600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8B"/>
                </a:solidFill>
                <a:latin typeface="Microsoft YaHei"/>
              </a:rPr>
              <a:t>BloomRevocationList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轻量级撤销检查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450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add(serial)        // 加入已撤销证书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08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mightBeRevoked(s)  // 本地 O(k) 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94176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7673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export() / import()// 广播序列化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722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13 项测试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657600" cy="53035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188720"/>
            <a:ext cx="3657600" cy="164592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4173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Microsoft YaHei"/>
              </a:rPr>
              <a:t>PseudonymManager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9202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假名证书生命周期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377440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2450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generatePseudonym()// ECDSA P-256 + AES-GCM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035808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108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getCurrentPseudonym()// 获取最新有效假名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694176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37673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decodeLinkageToken()// PCA 侧解密（静态方法）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1722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3D"/>
                </a:solidFill>
                <a:latin typeface="Microsoft YaHei"/>
              </a:rPr>
              <a:t>20 项测试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188720"/>
            <a:ext cx="3657600" cy="530352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188720"/>
            <a:ext cx="3657600" cy="164592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4173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8A00"/>
                </a:solidFill>
                <a:latin typeface="Microsoft YaHei"/>
              </a:rPr>
              <a:t>ConditionalTracer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9202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k-of-n 条件隐私追踪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77440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450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createRequest()    // 创建追责请求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035808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3108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resolveTracing()   // 汇总批准，触发解密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94176"/>
            <a:ext cx="3474720" cy="548640"/>
          </a:xfrm>
          <a:prstGeom prst="rect">
            <a:avLst/>
          </a:prstGeom>
          <a:solidFill>
            <a:srgbClr val="122030"/>
          </a:solidFill>
          <a:ln w="63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7673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getThreshold()     // 查询门限配置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61722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Microsoft YaHei"/>
              </a:rPr>
              <a:t>19 项测试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端到端示例：从假名到追责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完整生命周期代码演示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① OBU 申请假名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11430000" cy="1298448"/>
          </a:xfrm>
          <a:prstGeom prst="rect">
            <a:avLst/>
          </a:prstGeom>
          <a:solidFill>
            <a:srgbClr val="0A1727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const pm = new PseudonymManager('vehicle-皖A12345', linkageKey);
const cert = pm.generatePseudonym(5 * 60 * 1000); // 5 分钟有效期
// cert.linkageToken 对 OBU 不透明，仅 PCA 可解密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② RSU 广播撤销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55848"/>
            <a:ext cx="11430000" cy="1298448"/>
          </a:xfrm>
          <a:prstGeom prst="rect">
            <a:avLst/>
          </a:prstGeom>
          <a:solidFill>
            <a:srgbClr val="0A1727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const brl = new BloomRevocationList(143776, 10); // 18KB, k=10
brl.add('revoked-cert-serial-001');
const filter = brl.export();   // → OBU 通过 DSRC/C-V2X 接收
// OBU 端：brl.mightBeRevoked(peerSerial) → true/false，&lt; 0.01ms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③ 追责流程（2-of-3 批准后揭示身份）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38928"/>
            <a:ext cx="11430000" cy="1298448"/>
          </a:xfrm>
          <a:prstGeom prst="rect">
            <a:avLst/>
          </a:prstGeom>
          <a:solidFill>
            <a:srgbClr val="0A1727"/>
          </a:solidFill>
          <a:ln w="101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23036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const tracer = new ConditionalTracer(2, ['police','court','transport']);
const req = tracer.createRequest(cert.pseudoId, '虚假碰撞预警', evidenceHash);
const result = tracer.resolveTracing(req, approvals, cert.linkageToken, linkageKey);
console.log(result.realVehicleId); // → 'vehicle-皖A12345'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06  学术支撑与现有工作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IEEE 1609.2 · ETSI ITS · 关键文献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学术文献与标准支撑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方案各组件均有成熟的研究基础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09728" cy="2508382080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  <a:latin typeface="Microsoft YaHei"/>
              </a:rPr>
              <a:t>标准体系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IEEE 1609.2-2022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544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Wireless Access in Vehicular Environments — Security Services for Applications and Management Messages。定义 ECDSA P-256 为 V2X 强制算法，假名证书格式与生命周期。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ETSI TS 102 941 v2.1.1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6771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V2X Security — Trust and Privacy Management。定义欧洲 ITS PKI 架构，包括 PCA（Pseudonym CA）、AA（Enrolment CA）角色分工。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ETSI TS 103 097 v2.1.1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80944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Security header and certificate formats for ITS。定义假名证书编码格式（基于 IEEE 1609.2），已在欧盟 C-ITS 部署。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03904"/>
            <a:ext cx="109728" cy="25083820800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9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Microsoft YaHei"/>
              </a:rPr>
              <a:t>Bloom Filter 撤销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153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Bloom, B. H. (1970)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15384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Space/Time Trade-offs in Hash Coding with Allowable Errors. CACM。原始 Bloom Filter 论文，无漏判性质严格证明。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286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CAMP LLC SCMS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28616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Security Credential Management System for V2X (2016)。美国 DOT 资助的 V2X PKI 试点，采用 Bloom Filter CRL 广播方案，已实验室验证。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41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Kargl et al. (2008)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6418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Secure V2X Communications — Pseudonymity, Privacy and Trust. IEEE Comm. Mag.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464808"/>
            <a:ext cx="109728" cy="167225472000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3D"/>
                </a:solidFill>
                <a:latin typeface="Microsoft YaHei"/>
              </a:rPr>
              <a:t>条件隐私追踪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876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Lu et al. (2008)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87628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ECPP: Efficient Conditional Privacy Preservation Protocol for Secure Vehicular Communications. IEEE INFOCOM。首次提出 V2X 条件隐私追踪框架，与本方案 k-of-n 思路一致。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7589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Raya &amp; Hubaux (2007)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75895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  <a:latin typeface="Microsoft YaHei"/>
              </a:rPr>
              <a:t>Securing vehicular ad hoc networks. J. Comput. Secur.。假名证书早期奠基工作。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icrosoft YaHei"/>
              </a:rPr>
              <a:t>07  路线图与局限性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8B"/>
                </a:solidFill>
                <a:latin typeface="Microsoft YaHei"/>
              </a:rPr>
              <a:t>分阶段演进 · 生产建议 · 开放挑战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分阶段实现路线图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从原型验证到大规模部署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512064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43200" cy="164592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A3D"/>
                </a:solidFill>
                <a:latin typeface="Microsoft YaHei"/>
              </a:rPr>
              <a:t>v1.0
（已完成）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原型验证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ECDSA P-256 假名生成与轮换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Bloom Filter 撤销（18KB/万条）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k-of-n 条件追踪端到端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52 项自动化测试全绿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234440"/>
            <a:ext cx="2743200" cy="512064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72968" y="1234440"/>
            <a:ext cx="2743200" cy="1645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144475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B8B"/>
                </a:solidFill>
                <a:latin typeface="Microsoft YaHei"/>
              </a:rPr>
              <a:t>v1.1
（3-6 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安全加固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65176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TPM 2.0 私钥存储适配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42900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IEEE 1609.2 证书格式编码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20624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OCSP Stapling（高价值场景）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9834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DSRC/C-V2X 消息封装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5896" y="1234440"/>
            <a:ext cx="2743200" cy="512064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25896" y="1234440"/>
            <a:ext cx="2743200" cy="164592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144475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68A00"/>
                </a:solidFill>
                <a:latin typeface="Microsoft YaHei"/>
              </a:rPr>
              <a:t>v2.0
（6-12 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7336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生产就绪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65176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分布式 PCA 联邦架构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6" y="342900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区块链撤销日志（不可篡改）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420624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zk-SNARK 零知识身份证明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49834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跨城市 RSU 互操作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78824" y="1234440"/>
            <a:ext cx="2743200" cy="5120640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78824" y="1234440"/>
            <a:ext cx="2743200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4" y="144475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Microsoft YaHei"/>
              </a:rPr>
              <a:t>v3.0
（1-2 年）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21762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大规模部署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4" y="265176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百万 OBU 压测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342900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群签名（更强不可链接性）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420624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跨境车辆联邦 PCA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49834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  <a:latin typeface="Microsoft YaHei"/>
              </a:rPr>
              <a:t>▸ 自动驾驶 L4+ 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3474720"/>
            <a:ext cx="109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757D"/>
                </a:solidFill>
                <a:latin typeface="Microsoft YaHe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6168" y="3474720"/>
            <a:ext cx="109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757D"/>
                </a:solidFill>
                <a:latin typeface="Microsoft YaHe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69096" y="3474720"/>
            <a:ext cx="109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757D"/>
                </a:solidFill>
                <a:latin typeface="Microsoft YaHei"/>
              </a:rPr>
              <a:t>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局限性与生产建议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  <a:latin typeface="Microsoft YaHei"/>
              </a:rPr>
              <a:t>当前原型与生产部署的差距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Microsoft YaHei"/>
              </a:rPr>
              <a:t>当前原型限制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Microsoft YaHei"/>
              </a:rPr>
              <a:t>假名自签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7568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OBU 自生成假名，生产中应由 PCA 预下发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70632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62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Microsoft YaHei"/>
              </a:rPr>
              <a:t>密钥在内存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私钥在进程内存，生产需 TPM 2.0 / HSM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41064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325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Microsoft YaHei"/>
              </a:rPr>
              <a:t>linkageKey 外露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165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演示中可见，生产中 PCA 严格保管，不出 HSM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11496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Microsoft YaHei"/>
              </a:rPr>
              <a:t>Filter 广播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869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Base64 字符串，需封装为 IEEE 1609.2 消息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Microsoft YaHei"/>
              </a:rPr>
              <a:t>生产部署建议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00200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3D"/>
                </a:solidFill>
                <a:latin typeface="Microsoft YaHei"/>
              </a:rPr>
              <a:t>假名预分发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PCA 通过 TLS 安全信道预下发一批假名证书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770632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62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3D"/>
                </a:solidFill>
                <a:latin typeface="Microsoft YaHei"/>
              </a:rPr>
              <a:t>TPM 绑定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461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私钥写入 OBU TPM 2.0，签名操作在 TPM 内部完成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41064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0325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3D"/>
                </a:solidFill>
                <a:latin typeface="Microsoft YaHei"/>
              </a:rPr>
              <a:t>HSM 保管密钥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165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PCA linkageKey 存于 nShield/Luna 等 FIPS-140-2 HSM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111496"/>
            <a:ext cx="5577840" cy="1024128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A3D"/>
                </a:solidFill>
                <a:latin typeface="Microsoft YaHei"/>
              </a:rPr>
              <a:t>行驶状态轮换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5869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Microsoft YaHei"/>
              </a:rPr>
              <a:t>停车/转弯时轮换假名，减少时空关联性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155680" cy="896112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✅  完全可行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170432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EATI 与 VANET 面临相同的信任困境（可伪造·可抵赖·大规模撤销·隐私追责），核心机制可直接映射。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121408"/>
            <a:ext cx="11155680" cy="896112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⚡  算法轻量化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194560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RSA-2048 → ECDSA P-256，OBU 验签从 50ms 降至 &lt;1ms，完全满足 10Hz BSM 广播需求。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45536"/>
            <a:ext cx="11155680" cy="896112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📡  撤销低开销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18688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Bloom Filter 将 MB 级 CRL 压缩为 18KB（万条撤销），本地查询 &lt;0.01ms，无需网络。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169664"/>
            <a:ext cx="11155680" cy="896112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⚖️  隐私与追责均衡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4242816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假名轮换保护位置隐私；k-of-n 门限确保单一机构无法滥权；linkageToken 保证事后可追责。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93792"/>
            <a:ext cx="11155680" cy="896112"/>
          </a:xfrm>
          <a:prstGeom prst="rect">
            <a:avLst/>
          </a:prstGeom>
          <a:solidFill>
            <a:srgbClr val="333F48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Microsoft YaHei"/>
              </a:rPr>
              <a:t>📚  充分学术支撑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266944"/>
            <a:ext cx="8595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  <a:latin typeface="Microsoft YaHei"/>
              </a:rPr>
              <a:t>IEEE 1609.2 · ETSI TS 102 941 · CAMP SCMS · Lu et al. (2008) 均支持本方案各核心组件。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8A00"/>
                </a:solidFill>
                <a:latin typeface="Microsoft YaHei"/>
              </a:rPr>
              <a:t>代码已实现 · 52 项测试全绿 · 开源于 zhang10225/EATI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